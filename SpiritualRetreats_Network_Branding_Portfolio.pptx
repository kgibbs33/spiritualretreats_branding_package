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jp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jp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1.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1.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jpg"/><Relationship Id="rId3" Type="http://schemas.openxmlformats.org/officeDocument/2006/relationships/image" Target="../media/image-7-3.jpg"/><Relationship Id="rId4" Type="http://schemas.openxmlformats.org/officeDocument/2006/relationships/image" Target="../media/image-7-4.jpg"/><Relationship Id="rId5" Type="http://schemas.openxmlformats.org/officeDocument/2006/relationships/image" Target="../media/image-7-5.jp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1.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jp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1.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1A33"/>
        </a:solidFill>
      </p:bgPr>
    </p:bg>
    <p:spTree>
      <p:nvGrpSpPr>
        <p:cNvPr id="1" name=""/>
        <p:cNvGrpSpPr/>
        <p:nvPr/>
      </p:nvGrpSpPr>
      <p:grpSpPr>
        <a:xfrm>
          <a:off x="0" y="0"/>
          <a:ext cx="0" cy="0"/>
          <a:chOff x="0" y="0"/>
          <a:chExt cx="0" cy="0"/>
        </a:xfrm>
      </p:grpSpPr>
      <p:pic>
        <p:nvPicPr>
          <p:cNvPr id="2" name="Image 0" descr="/mnt/data/SpiritualRetreats_assets/logo_master_navy_gold.png">    </p:cNvPr>
          <p:cNvPicPr>
            <a:picLocks noChangeAspect="1"/>
          </p:cNvPicPr>
          <p:nvPr/>
        </p:nvPicPr>
        <p:blipFill>
          <a:blip r:embed="rId1"/>
          <a:stretch>
            <a:fillRect/>
          </a:stretch>
        </p:blipFill>
        <p:spPr>
          <a:xfrm>
            <a:off x="3497580" y="320040"/>
            <a:ext cx="5166360" cy="5166360"/>
          </a:xfrm>
          <a:prstGeom prst="rect">
            <a:avLst/>
          </a:prstGeom>
        </p:spPr>
      </p:pic>
      <p:sp>
        <p:nvSpPr>
          <p:cNvPr id="3" name="Text 0"/>
          <p:cNvSpPr/>
          <p:nvPr/>
        </p:nvSpPr>
        <p:spPr>
          <a:xfrm>
            <a:off x="2743200" y="5532120"/>
            <a:ext cx="6675120" cy="320040"/>
          </a:xfrm>
          <a:prstGeom prst="rect">
            <a:avLst/>
          </a:prstGeom>
          <a:noFill/>
          <a:ln/>
        </p:spPr>
        <p:txBody>
          <a:bodyPr wrap="square" lIns="0" tIns="0" rIns="0" bIns="0" rtlCol="0" anchor="ctr"/>
          <a:lstStyle/>
          <a:p>
            <a:pPr algn="ctr" indent="0" marL="0">
              <a:buNone/>
            </a:pPr>
            <a:r>
              <a:rPr lang="en-US" sz="1600" b="1" dirty="0">
                <a:solidFill>
                  <a:srgbClr val="F4D675"/>
                </a:solidFill>
                <a:latin typeface="Aptos" pitchFamily="34" charset="0"/>
                <a:ea typeface="Aptos" pitchFamily="34" charset="-122"/>
                <a:cs typeface="Aptos" pitchFamily="34" charset="-120"/>
              </a:rPr>
              <a:t>BRANDING PORTFOLIO</a:t>
            </a:r>
            <a:endParaRPr lang="en-US" sz="1600" dirty="0"/>
          </a:p>
        </p:txBody>
      </p:sp>
      <p:sp>
        <p:nvSpPr>
          <p:cNvPr id="4" name="Text 1"/>
          <p:cNvSpPr/>
          <p:nvPr/>
        </p:nvSpPr>
        <p:spPr>
          <a:xfrm>
            <a:off x="3017520" y="5916168"/>
            <a:ext cx="6126480" cy="292608"/>
          </a:xfrm>
          <a:prstGeom prst="rect">
            <a:avLst/>
          </a:prstGeom>
          <a:noFill/>
          <a:ln/>
        </p:spPr>
        <p:txBody>
          <a:bodyPr wrap="square" lIns="0" tIns="0" rIns="0" bIns="0" rtlCol="0" anchor="ctr"/>
          <a:lstStyle/>
          <a:p>
            <a:pPr algn="ctr" indent="0" marL="0">
              <a:buNone/>
            </a:pPr>
            <a:r>
              <a:rPr lang="en-US" sz="1800" dirty="0">
                <a:solidFill>
                  <a:srgbClr val="FFFFFF"/>
                </a:solidFill>
                <a:latin typeface="Georgia" pitchFamily="34" charset="0"/>
                <a:ea typeface="Georgia" pitchFamily="34" charset="-122"/>
                <a:cs typeface="Georgia" pitchFamily="34" charset="-120"/>
              </a:rPr>
              <a:t>SpiritualRetreats.network</a:t>
            </a:r>
            <a:endParaRPr lang="en-US" sz="1800" dirty="0"/>
          </a:p>
        </p:txBody>
      </p:sp>
      <p:sp>
        <p:nvSpPr>
          <p:cNvPr id="5" name="Shape 2"/>
          <p:cNvSpPr/>
          <p:nvPr/>
        </p:nvSpPr>
        <p:spPr>
          <a:xfrm>
            <a:off x="3794760" y="6336792"/>
            <a:ext cx="4572000" cy="0"/>
          </a:xfrm>
          <a:prstGeom prst="line">
            <a:avLst/>
          </a:prstGeom>
          <a:noFill/>
          <a:ln w="12700">
            <a:solidFill>
              <a:srgbClr val="D9A233"/>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7EE"/>
        </a:solidFill>
      </p:bgPr>
    </p:bg>
    <p:spTree>
      <p:nvGrpSpPr>
        <p:cNvPr id="1" name=""/>
        <p:cNvGrpSpPr/>
        <p:nvPr/>
      </p:nvGrpSpPr>
      <p:grpSpPr>
        <a:xfrm>
          <a:off x="0" y="0"/>
          <a:ext cx="0" cy="0"/>
          <a:chOff x="0" y="0"/>
          <a:chExt cx="0" cy="0"/>
        </a:xfrm>
      </p:grpSpPr>
      <p:sp>
        <p:nvSpPr>
          <p:cNvPr id="2" name="Text 0"/>
          <p:cNvSpPr/>
          <p:nvPr/>
        </p:nvSpPr>
        <p:spPr>
          <a:xfrm>
            <a:off x="502920" y="320040"/>
            <a:ext cx="1005840" cy="320040"/>
          </a:xfrm>
          <a:prstGeom prst="rect">
            <a:avLst/>
          </a:prstGeom>
          <a:noFill/>
          <a:ln/>
        </p:spPr>
        <p:txBody>
          <a:bodyPr wrap="square" lIns="0" tIns="0" rIns="0" bIns="0" rtlCol="0" anchor="ctr"/>
          <a:lstStyle/>
          <a:p>
            <a:pPr indent="0" marL="0">
              <a:buNone/>
            </a:pPr>
            <a:r>
              <a:rPr lang="en-US" sz="1200" b="1" dirty="0">
                <a:solidFill>
                  <a:srgbClr val="D9A233"/>
                </a:solidFill>
                <a:latin typeface="Aptos" pitchFamily="34" charset="0"/>
                <a:ea typeface="Aptos" pitchFamily="34" charset="-122"/>
                <a:cs typeface="Aptos" pitchFamily="34" charset="-120"/>
              </a:rPr>
              <a:t>01</a:t>
            </a:r>
            <a:endParaRPr lang="en-US" sz="1200" dirty="0"/>
          </a:p>
        </p:txBody>
      </p:sp>
      <p:sp>
        <p:nvSpPr>
          <p:cNvPr id="3" name="Text 1"/>
          <p:cNvSpPr/>
          <p:nvPr/>
        </p:nvSpPr>
        <p:spPr>
          <a:xfrm>
            <a:off x="502920" y="658368"/>
            <a:ext cx="8046720" cy="502920"/>
          </a:xfrm>
          <a:prstGeom prst="rect">
            <a:avLst/>
          </a:prstGeom>
          <a:noFill/>
          <a:ln/>
        </p:spPr>
        <p:txBody>
          <a:bodyPr wrap="square" lIns="0" tIns="0" rIns="0" bIns="0" rtlCol="0" anchor="ctr"/>
          <a:lstStyle/>
          <a:p>
            <a:pPr indent="0" marL="0">
              <a:buNone/>
            </a:pPr>
            <a:r>
              <a:rPr lang="en-US" sz="2800" b="1" dirty="0">
                <a:solidFill>
                  <a:srgbClr val="0B4A36"/>
                </a:solidFill>
                <a:latin typeface="Georgia" pitchFamily="34" charset="0"/>
                <a:ea typeface="Georgia" pitchFamily="34" charset="-122"/>
                <a:cs typeface="Georgia" pitchFamily="34" charset="-120"/>
              </a:rPr>
              <a:t>The New Brand Direction</a:t>
            </a:r>
            <a:endParaRPr lang="en-US" sz="2800" dirty="0"/>
          </a:p>
        </p:txBody>
      </p:sp>
      <p:sp>
        <p:nvSpPr>
          <p:cNvPr id="4" name="Text 2"/>
          <p:cNvSpPr/>
          <p:nvPr/>
        </p:nvSpPr>
        <p:spPr>
          <a:xfrm>
            <a:off x="502920" y="1170432"/>
            <a:ext cx="8778240" cy="301752"/>
          </a:xfrm>
          <a:prstGeom prst="rect">
            <a:avLst/>
          </a:prstGeom>
          <a:noFill/>
          <a:ln/>
        </p:spPr>
        <p:txBody>
          <a:bodyPr wrap="square" lIns="0" tIns="0" rIns="0" bIns="0" rtlCol="0" anchor="ctr"/>
          <a:lstStyle/>
          <a:p>
            <a:pPr indent="0" marL="0">
              <a:buNone/>
            </a:pPr>
            <a:r>
              <a:rPr lang="en-US" sz="1250" dirty="0">
                <a:solidFill>
                  <a:srgbClr val="B77938"/>
                </a:solidFill>
                <a:latin typeface="Aptos" pitchFamily="34" charset="0"/>
                <a:ea typeface="Aptos" pitchFamily="34" charset="-122"/>
                <a:cs typeface="Aptos" pitchFamily="34" charset="-120"/>
              </a:rPr>
              <a:t>Earth meets Heaven: a grounded retreat platform with a sacred, premium soul.</a:t>
            </a:r>
            <a:endParaRPr lang="en-US" sz="1250" dirty="0"/>
          </a:p>
        </p:txBody>
      </p:sp>
      <p:sp>
        <p:nvSpPr>
          <p:cNvPr id="5" name="Shape 3"/>
          <p:cNvSpPr/>
          <p:nvPr/>
        </p:nvSpPr>
        <p:spPr>
          <a:xfrm>
            <a:off x="502920" y="1581912"/>
            <a:ext cx="1920240" cy="0"/>
          </a:xfrm>
          <a:prstGeom prst="line">
            <a:avLst/>
          </a:prstGeom>
          <a:noFill/>
          <a:ln w="15240">
            <a:solidFill>
              <a:srgbClr val="D9A233"/>
            </a:solidFill>
            <a:prstDash val="solid"/>
          </a:ln>
        </p:spPr>
      </p:sp>
      <p:pic>
        <p:nvPicPr>
          <p:cNvPr id="6" name="Image 0" descr="/mnt/data/SpiritualRetreats_assets/logo_mark_geometry_lotus.png">    </p:cNvPr>
          <p:cNvPicPr>
            <a:picLocks noChangeAspect="1"/>
          </p:cNvPicPr>
          <p:nvPr/>
        </p:nvPicPr>
        <p:blipFill>
          <a:blip r:embed="rId1"/>
          <a:srcRect l="0" r="0" t="9774" b="9774"/>
          <a:stretch/>
        </p:blipFill>
        <p:spPr>
          <a:xfrm>
            <a:off x="10789920" y="228600"/>
            <a:ext cx="777240" cy="777240"/>
          </a:xfrm>
          <a:prstGeom prst="rect">
            <a:avLst/>
          </a:prstGeom>
        </p:spPr>
      </p:pic>
      <p:pic>
        <p:nvPicPr>
          <p:cNvPr id="7" name="Image 1" descr="/mnt/data/SpiritualRetreats_assets/logo_master_navy_gold.png">    </p:cNvPr>
          <p:cNvPicPr>
            <a:picLocks noChangeAspect="1"/>
          </p:cNvPicPr>
          <p:nvPr/>
        </p:nvPicPr>
        <p:blipFill>
          <a:blip r:embed="rId2"/>
          <a:srcRect l="0" r="0" t="4217" b="4217"/>
          <a:stretch/>
        </p:blipFill>
        <p:spPr>
          <a:xfrm>
            <a:off x="640080" y="1828800"/>
            <a:ext cx="3794760" cy="3474720"/>
          </a:xfrm>
          <a:prstGeom prst="rect">
            <a:avLst/>
          </a:prstGeom>
        </p:spPr>
      </p:pic>
      <p:pic>
        <p:nvPicPr>
          <p:cNvPr id="8" name="Image 2" descr="/mnt/data/SpiritualRetreats_assets/photo_meditation_mountains.jpg">    </p:cNvPr>
          <p:cNvPicPr>
            <a:picLocks noChangeAspect="1"/>
          </p:cNvPicPr>
          <p:nvPr/>
        </p:nvPicPr>
        <p:blipFill>
          <a:blip r:embed="rId3"/>
          <a:srcRect l="0" r="0" t="28330" b="28330"/>
          <a:stretch/>
        </p:blipFill>
        <p:spPr>
          <a:xfrm>
            <a:off x="7543800" y="1691640"/>
            <a:ext cx="3977640" cy="2926080"/>
          </a:xfrm>
          <a:prstGeom prst="rect">
            <a:avLst/>
          </a:prstGeom>
        </p:spPr>
      </p:pic>
      <p:sp>
        <p:nvSpPr>
          <p:cNvPr id="9" name="Text 4"/>
          <p:cNvSpPr/>
          <p:nvPr/>
        </p:nvSpPr>
        <p:spPr>
          <a:xfrm>
            <a:off x="4709160" y="1874520"/>
            <a:ext cx="2423160" cy="292608"/>
          </a:xfrm>
          <a:prstGeom prst="rect">
            <a:avLst/>
          </a:prstGeom>
          <a:noFill/>
          <a:ln/>
        </p:spPr>
        <p:txBody>
          <a:bodyPr wrap="square" lIns="0" tIns="0" rIns="0" bIns="0" rtlCol="0" anchor="ctr"/>
          <a:lstStyle/>
          <a:p>
            <a:pPr indent="0" marL="0">
              <a:buNone/>
            </a:pPr>
            <a:r>
              <a:rPr lang="en-US" sz="1800" b="1" dirty="0">
                <a:solidFill>
                  <a:srgbClr val="0B4A36"/>
                </a:solidFill>
                <a:latin typeface="Georgia" pitchFamily="34" charset="0"/>
                <a:ea typeface="Georgia" pitchFamily="34" charset="-122"/>
                <a:cs typeface="Georgia" pitchFamily="34" charset="-120"/>
              </a:rPr>
              <a:t>Brand idea</a:t>
            </a:r>
            <a:endParaRPr lang="en-US" sz="1800" dirty="0"/>
          </a:p>
        </p:txBody>
      </p:sp>
      <p:sp>
        <p:nvSpPr>
          <p:cNvPr id="10" name="Text 5"/>
          <p:cNvSpPr/>
          <p:nvPr/>
        </p:nvSpPr>
        <p:spPr>
          <a:xfrm>
            <a:off x="4709160" y="2258568"/>
            <a:ext cx="2423160" cy="1901952"/>
          </a:xfrm>
          <a:prstGeom prst="rect">
            <a:avLst/>
          </a:prstGeom>
          <a:noFill/>
          <a:ln/>
        </p:spPr>
        <p:txBody>
          <a:bodyPr wrap="square" lIns="381" tIns="381" rIns="381" bIns="381" rtlCol="0" anchor="t">
            <a:normAutofit/>
          </a:bodyPr>
          <a:lstStyle/>
          <a:p>
            <a:pPr indent="0" marL="0">
              <a:buNone/>
            </a:pPr>
            <a:r>
              <a:rPr lang="en-US" sz="1200" dirty="0">
                <a:solidFill>
                  <a:srgbClr val="1B2A28"/>
                </a:solidFill>
                <a:latin typeface="Aptos" pitchFamily="34" charset="0"/>
                <a:ea typeface="Aptos" pitchFamily="34" charset="-122"/>
                <a:cs typeface="Aptos" pitchFamily="34" charset="-120"/>
              </a:rPr>
              <a:t>A bridge between nature and spirit: the deep celestial blue holds the sacred lotus, the forest greens keep the platform rooted in real retreats, and gold carries the feeling of transformation, trust, and light.</a:t>
            </a:r>
            <a:endParaRPr lang="en-US" sz="1200" dirty="0"/>
          </a:p>
        </p:txBody>
      </p:sp>
      <p:sp>
        <p:nvSpPr>
          <p:cNvPr id="11" name="Text 6"/>
          <p:cNvSpPr/>
          <p:nvPr/>
        </p:nvSpPr>
        <p:spPr>
          <a:xfrm>
            <a:off x="4709160" y="4251960"/>
            <a:ext cx="2468880" cy="292608"/>
          </a:xfrm>
          <a:prstGeom prst="rect">
            <a:avLst/>
          </a:prstGeom>
          <a:noFill/>
          <a:ln/>
        </p:spPr>
        <p:txBody>
          <a:bodyPr wrap="square" lIns="0" tIns="0" rIns="0" bIns="0" rtlCol="0" anchor="ctr"/>
          <a:lstStyle/>
          <a:p>
            <a:pPr indent="0" marL="0">
              <a:buNone/>
            </a:pPr>
            <a:r>
              <a:rPr lang="en-US" sz="1400" b="1" dirty="0">
                <a:solidFill>
                  <a:srgbClr val="0B4A36"/>
                </a:solidFill>
                <a:latin typeface="Georgia" pitchFamily="34" charset="0"/>
                <a:ea typeface="Georgia" pitchFamily="34" charset="-122"/>
                <a:cs typeface="Georgia" pitchFamily="34" charset="-120"/>
              </a:rPr>
              <a:t>Naming note</a:t>
            </a:r>
            <a:endParaRPr lang="en-US" sz="1400" dirty="0"/>
          </a:p>
        </p:txBody>
      </p:sp>
      <p:sp>
        <p:nvSpPr>
          <p:cNvPr id="12" name="Text 7"/>
          <p:cNvSpPr/>
          <p:nvPr/>
        </p:nvSpPr>
        <p:spPr>
          <a:xfrm>
            <a:off x="4709160" y="4636008"/>
            <a:ext cx="2468880" cy="758952"/>
          </a:xfrm>
          <a:prstGeom prst="rect">
            <a:avLst/>
          </a:prstGeom>
          <a:noFill/>
          <a:ln/>
        </p:spPr>
        <p:txBody>
          <a:bodyPr wrap="square" lIns="381" tIns="381" rIns="381" bIns="381" rtlCol="0" anchor="t">
            <a:normAutofit/>
          </a:bodyPr>
          <a:lstStyle/>
          <a:p>
            <a:pPr indent="0" marL="0">
              <a:buNone/>
            </a:pPr>
            <a:r>
              <a:rPr lang="en-US" sz="1080" dirty="0">
                <a:solidFill>
                  <a:srgbClr val="1B2A28"/>
                </a:solidFill>
                <a:latin typeface="Aptos" pitchFamily="34" charset="0"/>
                <a:ea typeface="Aptos" pitchFamily="34" charset="-122"/>
                <a:cs typeface="Aptos" pitchFamily="34" charset="-120"/>
              </a:rPr>
              <a:t>Use SpiritualRetreats.network for the domain and platform. The elegant logo lockup can hold the display name Spiritual Retreat Network as the public-facing master mark.</a:t>
            </a:r>
            <a:endParaRPr lang="en-US" sz="1080" dirty="0"/>
          </a:p>
        </p:txBody>
      </p:sp>
      <p:sp>
        <p:nvSpPr>
          <p:cNvPr id="13" name="Text 8"/>
          <p:cNvSpPr/>
          <p:nvPr/>
        </p:nvSpPr>
        <p:spPr>
          <a:xfrm>
            <a:off x="502920" y="6510528"/>
            <a:ext cx="5029200" cy="164592"/>
          </a:xfrm>
          <a:prstGeom prst="rect">
            <a:avLst/>
          </a:prstGeom>
          <a:noFill/>
          <a:ln/>
        </p:spPr>
        <p:txBody>
          <a:bodyPr wrap="square" lIns="0" tIns="0" rIns="0" bIns="0" rtlCol="0" anchor="ctr"/>
          <a:lstStyle/>
          <a:p>
            <a:pPr indent="0" marL="0">
              <a:buNone/>
            </a:pPr>
            <a:r>
              <a:rPr lang="en-US" sz="750" dirty="0">
                <a:solidFill>
                  <a:srgbClr val="7C8680"/>
                </a:solidFill>
                <a:latin typeface="Aptos" pitchFamily="34" charset="0"/>
                <a:ea typeface="Aptos" pitchFamily="34" charset="-122"/>
                <a:cs typeface="Aptos" pitchFamily="34" charset="-120"/>
              </a:rPr>
              <a:t>SpiritualRetreats.network  |  Brand Portfolio</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2E7"/>
        </a:solidFill>
      </p:bgPr>
    </p:bg>
    <p:spTree>
      <p:nvGrpSpPr>
        <p:cNvPr id="1" name=""/>
        <p:cNvGrpSpPr/>
        <p:nvPr/>
      </p:nvGrpSpPr>
      <p:grpSpPr>
        <a:xfrm>
          <a:off x="0" y="0"/>
          <a:ext cx="0" cy="0"/>
          <a:chOff x="0" y="0"/>
          <a:chExt cx="0" cy="0"/>
        </a:xfrm>
      </p:grpSpPr>
      <p:sp>
        <p:nvSpPr>
          <p:cNvPr id="2" name="Text 0"/>
          <p:cNvSpPr/>
          <p:nvPr/>
        </p:nvSpPr>
        <p:spPr>
          <a:xfrm>
            <a:off x="502920" y="320040"/>
            <a:ext cx="1005840" cy="320040"/>
          </a:xfrm>
          <a:prstGeom prst="rect">
            <a:avLst/>
          </a:prstGeom>
          <a:noFill/>
          <a:ln/>
        </p:spPr>
        <p:txBody>
          <a:bodyPr wrap="square" lIns="0" tIns="0" rIns="0" bIns="0" rtlCol="0" anchor="ctr"/>
          <a:lstStyle/>
          <a:p>
            <a:pPr indent="0" marL="0">
              <a:buNone/>
            </a:pPr>
            <a:r>
              <a:rPr lang="en-US" sz="1200" b="1" dirty="0">
                <a:solidFill>
                  <a:srgbClr val="D9A233"/>
                </a:solidFill>
                <a:latin typeface="Aptos" pitchFamily="34" charset="0"/>
                <a:ea typeface="Aptos" pitchFamily="34" charset="-122"/>
                <a:cs typeface="Aptos" pitchFamily="34" charset="-120"/>
              </a:rPr>
              <a:t>02</a:t>
            </a:r>
            <a:endParaRPr lang="en-US" sz="1200" dirty="0"/>
          </a:p>
        </p:txBody>
      </p:sp>
      <p:sp>
        <p:nvSpPr>
          <p:cNvPr id="3" name="Text 1"/>
          <p:cNvSpPr/>
          <p:nvPr/>
        </p:nvSpPr>
        <p:spPr>
          <a:xfrm>
            <a:off x="502920" y="658368"/>
            <a:ext cx="8046720" cy="502920"/>
          </a:xfrm>
          <a:prstGeom prst="rect">
            <a:avLst/>
          </a:prstGeom>
          <a:noFill/>
          <a:ln/>
        </p:spPr>
        <p:txBody>
          <a:bodyPr wrap="square" lIns="0" tIns="0" rIns="0" bIns="0" rtlCol="0" anchor="ctr"/>
          <a:lstStyle/>
          <a:p>
            <a:pPr indent="0" marL="0">
              <a:buNone/>
            </a:pPr>
            <a:r>
              <a:rPr lang="en-US" sz="2800" b="1" dirty="0">
                <a:solidFill>
                  <a:srgbClr val="0B4A36"/>
                </a:solidFill>
                <a:latin typeface="Georgia" pitchFamily="34" charset="0"/>
                <a:ea typeface="Georgia" pitchFamily="34" charset="-122"/>
                <a:cs typeface="Georgia" pitchFamily="34" charset="-120"/>
              </a:rPr>
              <a:t>Brand Essence</a:t>
            </a:r>
            <a:endParaRPr lang="en-US" sz="2800" dirty="0"/>
          </a:p>
        </p:txBody>
      </p:sp>
      <p:sp>
        <p:nvSpPr>
          <p:cNvPr id="4" name="Text 2"/>
          <p:cNvSpPr/>
          <p:nvPr/>
        </p:nvSpPr>
        <p:spPr>
          <a:xfrm>
            <a:off x="502920" y="1170432"/>
            <a:ext cx="8778240" cy="301752"/>
          </a:xfrm>
          <a:prstGeom prst="rect">
            <a:avLst/>
          </a:prstGeom>
          <a:noFill/>
          <a:ln/>
        </p:spPr>
        <p:txBody>
          <a:bodyPr wrap="square" lIns="0" tIns="0" rIns="0" bIns="0" rtlCol="0" anchor="ctr"/>
          <a:lstStyle/>
          <a:p>
            <a:pPr indent="0" marL="0">
              <a:buNone/>
            </a:pPr>
            <a:r>
              <a:rPr lang="en-US" sz="1250" dirty="0">
                <a:solidFill>
                  <a:srgbClr val="B77938"/>
                </a:solidFill>
                <a:latin typeface="Aptos" pitchFamily="34" charset="0"/>
                <a:ea typeface="Aptos" pitchFamily="34" charset="-122"/>
                <a:cs typeface="Aptos" pitchFamily="34" charset="-120"/>
              </a:rPr>
              <a:t>A clear emotional core for every page, deck, profile, message, and retreat experience.</a:t>
            </a:r>
            <a:endParaRPr lang="en-US" sz="1250" dirty="0"/>
          </a:p>
        </p:txBody>
      </p:sp>
      <p:sp>
        <p:nvSpPr>
          <p:cNvPr id="5" name="Shape 3"/>
          <p:cNvSpPr/>
          <p:nvPr/>
        </p:nvSpPr>
        <p:spPr>
          <a:xfrm>
            <a:off x="502920" y="1581912"/>
            <a:ext cx="1920240" cy="0"/>
          </a:xfrm>
          <a:prstGeom prst="line">
            <a:avLst/>
          </a:prstGeom>
          <a:noFill/>
          <a:ln w="15240">
            <a:solidFill>
              <a:srgbClr val="D9A233"/>
            </a:solidFill>
            <a:prstDash val="solid"/>
          </a:ln>
        </p:spPr>
      </p:sp>
      <p:pic>
        <p:nvPicPr>
          <p:cNvPr id="6" name="Image 0" descr="/mnt/data/SpiritualRetreats_assets/logo_mark_geometry_lotus.png">    </p:cNvPr>
          <p:cNvPicPr>
            <a:picLocks noChangeAspect="1"/>
          </p:cNvPicPr>
          <p:nvPr/>
        </p:nvPicPr>
        <p:blipFill>
          <a:blip r:embed="rId1"/>
          <a:srcRect l="0" r="0" t="9774" b="9774"/>
          <a:stretch/>
        </p:blipFill>
        <p:spPr>
          <a:xfrm>
            <a:off x="10789920" y="228600"/>
            <a:ext cx="777240" cy="777240"/>
          </a:xfrm>
          <a:prstGeom prst="rect">
            <a:avLst/>
          </a:prstGeom>
        </p:spPr>
      </p:pic>
      <p:pic>
        <p:nvPicPr>
          <p:cNvPr id="7" name="Image 1" descr="/mnt/data/SpiritualRetreats_assets/photo_retreat_lake.jpg">    </p:cNvPr>
          <p:cNvPicPr>
            <a:picLocks noChangeAspect="1"/>
          </p:cNvPicPr>
          <p:nvPr/>
        </p:nvPicPr>
        <p:blipFill>
          <a:blip r:embed="rId2"/>
          <a:srcRect l="6250" r="6250" t="0" b="0"/>
          <a:stretch/>
        </p:blipFill>
        <p:spPr>
          <a:xfrm>
            <a:off x="594360" y="1828800"/>
            <a:ext cx="3108960" cy="3886200"/>
          </a:xfrm>
          <a:prstGeom prst="rect">
            <a:avLst/>
          </a:prstGeom>
        </p:spPr>
      </p:pic>
      <p:sp>
        <p:nvSpPr>
          <p:cNvPr id="8" name="Text 4"/>
          <p:cNvSpPr/>
          <p:nvPr/>
        </p:nvSpPr>
        <p:spPr>
          <a:xfrm>
            <a:off x="4160520" y="1874520"/>
            <a:ext cx="3108960" cy="292608"/>
          </a:xfrm>
          <a:prstGeom prst="rect">
            <a:avLst/>
          </a:prstGeom>
          <a:noFill/>
          <a:ln/>
        </p:spPr>
        <p:txBody>
          <a:bodyPr wrap="square" lIns="0" tIns="0" rIns="0" bIns="0" rtlCol="0" anchor="ctr"/>
          <a:lstStyle/>
          <a:p>
            <a:pPr indent="0" marL="0">
              <a:buNone/>
            </a:pPr>
            <a:r>
              <a:rPr lang="en-US" sz="1800" b="1" dirty="0">
                <a:solidFill>
                  <a:srgbClr val="0B4A36"/>
                </a:solidFill>
                <a:latin typeface="Georgia" pitchFamily="34" charset="0"/>
                <a:ea typeface="Georgia" pitchFamily="34" charset="-122"/>
                <a:cs typeface="Georgia" pitchFamily="34" charset="-120"/>
              </a:rPr>
              <a:t>Purpose</a:t>
            </a:r>
            <a:endParaRPr lang="en-US" sz="1800" dirty="0"/>
          </a:p>
        </p:txBody>
      </p:sp>
      <p:sp>
        <p:nvSpPr>
          <p:cNvPr id="9" name="Text 5"/>
          <p:cNvSpPr/>
          <p:nvPr/>
        </p:nvSpPr>
        <p:spPr>
          <a:xfrm>
            <a:off x="4160520" y="2258568"/>
            <a:ext cx="3108960" cy="758952"/>
          </a:xfrm>
          <a:prstGeom prst="rect">
            <a:avLst/>
          </a:prstGeom>
          <a:noFill/>
          <a:ln/>
        </p:spPr>
        <p:txBody>
          <a:bodyPr wrap="square" lIns="381" tIns="381" rIns="381" bIns="381" rtlCol="0" anchor="t">
            <a:normAutofit/>
          </a:bodyPr>
          <a:lstStyle/>
          <a:p>
            <a:pPr indent="0" marL="0">
              <a:buNone/>
            </a:pPr>
            <a:r>
              <a:rPr lang="en-US" sz="1120" dirty="0">
                <a:solidFill>
                  <a:srgbClr val="1B2A28"/>
                </a:solidFill>
                <a:latin typeface="Aptos" pitchFamily="34" charset="0"/>
                <a:ea typeface="Aptos" pitchFamily="34" charset="-122"/>
                <a:cs typeface="Aptos" pitchFamily="34" charset="-120"/>
              </a:rPr>
              <a:t>To become the trusted home where seekers, retreat leaders, facilitators, and venues can find each other, grow together, and create genuinely transformational retreat experiences.</a:t>
            </a:r>
            <a:endParaRPr lang="en-US" sz="1120" dirty="0"/>
          </a:p>
        </p:txBody>
      </p:sp>
      <p:sp>
        <p:nvSpPr>
          <p:cNvPr id="10" name="Text 6"/>
          <p:cNvSpPr/>
          <p:nvPr/>
        </p:nvSpPr>
        <p:spPr>
          <a:xfrm>
            <a:off x="7818120" y="1874520"/>
            <a:ext cx="3383280" cy="292608"/>
          </a:xfrm>
          <a:prstGeom prst="rect">
            <a:avLst/>
          </a:prstGeom>
          <a:noFill/>
          <a:ln/>
        </p:spPr>
        <p:txBody>
          <a:bodyPr wrap="square" lIns="0" tIns="0" rIns="0" bIns="0" rtlCol="0" anchor="ctr"/>
          <a:lstStyle/>
          <a:p>
            <a:pPr indent="0" marL="0">
              <a:buNone/>
            </a:pPr>
            <a:r>
              <a:rPr lang="en-US" sz="1800" b="1" dirty="0">
                <a:solidFill>
                  <a:srgbClr val="0B4A36"/>
                </a:solidFill>
                <a:latin typeface="Georgia" pitchFamily="34" charset="0"/>
                <a:ea typeface="Georgia" pitchFamily="34" charset="-122"/>
                <a:cs typeface="Georgia" pitchFamily="34" charset="-120"/>
              </a:rPr>
              <a:t>Promise</a:t>
            </a:r>
            <a:endParaRPr lang="en-US" sz="1800" dirty="0"/>
          </a:p>
        </p:txBody>
      </p:sp>
      <p:sp>
        <p:nvSpPr>
          <p:cNvPr id="11" name="Text 7"/>
          <p:cNvSpPr/>
          <p:nvPr/>
        </p:nvSpPr>
        <p:spPr>
          <a:xfrm>
            <a:off x="7818120" y="2258568"/>
            <a:ext cx="3383280" cy="621792"/>
          </a:xfrm>
          <a:prstGeom prst="rect">
            <a:avLst/>
          </a:prstGeom>
          <a:noFill/>
          <a:ln/>
        </p:spPr>
        <p:txBody>
          <a:bodyPr wrap="square" lIns="381" tIns="381" rIns="381" bIns="381" rtlCol="0" anchor="t">
            <a:normAutofit/>
          </a:bodyPr>
          <a:lstStyle/>
          <a:p>
            <a:pPr indent="0" marL="0">
              <a:buNone/>
            </a:pPr>
            <a:r>
              <a:rPr lang="en-US" sz="1120" dirty="0">
                <a:solidFill>
                  <a:srgbClr val="1B2A28"/>
                </a:solidFill>
                <a:latin typeface="Aptos" pitchFamily="34" charset="0"/>
                <a:ea typeface="Aptos" pitchFamily="34" charset="-122"/>
                <a:cs typeface="Aptos" pitchFamily="34" charset="-120"/>
              </a:rPr>
              <a:t>SpiritualRetreats.network brings beauty, clarity, support, and connection to an industry that is often fragmented, manual, and difficult to navigate.</a:t>
            </a:r>
            <a:endParaRPr lang="en-US" sz="1120" dirty="0"/>
          </a:p>
        </p:txBody>
      </p:sp>
      <p:sp>
        <p:nvSpPr>
          <p:cNvPr id="12" name="Text 8"/>
          <p:cNvSpPr/>
          <p:nvPr/>
        </p:nvSpPr>
        <p:spPr>
          <a:xfrm>
            <a:off x="4160520" y="3657600"/>
            <a:ext cx="3108960" cy="292608"/>
          </a:xfrm>
          <a:prstGeom prst="rect">
            <a:avLst/>
          </a:prstGeom>
          <a:noFill/>
          <a:ln/>
        </p:spPr>
        <p:txBody>
          <a:bodyPr wrap="square" lIns="0" tIns="0" rIns="0" bIns="0" rtlCol="0" anchor="ctr"/>
          <a:lstStyle/>
          <a:p>
            <a:pPr indent="0" marL="0">
              <a:buNone/>
            </a:pPr>
            <a:r>
              <a:rPr lang="en-US" sz="1800" b="1" dirty="0">
                <a:solidFill>
                  <a:srgbClr val="0B4A36"/>
                </a:solidFill>
                <a:latin typeface="Georgia" pitchFamily="34" charset="0"/>
                <a:ea typeface="Georgia" pitchFamily="34" charset="-122"/>
                <a:cs typeface="Georgia" pitchFamily="34" charset="-120"/>
              </a:rPr>
              <a:t>Positioning line</a:t>
            </a:r>
            <a:endParaRPr lang="en-US" sz="1800" dirty="0"/>
          </a:p>
        </p:txBody>
      </p:sp>
      <p:sp>
        <p:nvSpPr>
          <p:cNvPr id="13" name="Text 9"/>
          <p:cNvSpPr/>
          <p:nvPr/>
        </p:nvSpPr>
        <p:spPr>
          <a:xfrm>
            <a:off x="4160520" y="4041648"/>
            <a:ext cx="3108960" cy="758952"/>
          </a:xfrm>
          <a:prstGeom prst="rect">
            <a:avLst/>
          </a:prstGeom>
          <a:noFill/>
          <a:ln/>
        </p:spPr>
        <p:txBody>
          <a:bodyPr wrap="square" lIns="381" tIns="381" rIns="381" bIns="381" rtlCol="0" anchor="t">
            <a:normAutofit/>
          </a:bodyPr>
          <a:lstStyle/>
          <a:p>
            <a:pPr indent="0" marL="0">
              <a:buNone/>
            </a:pPr>
            <a:r>
              <a:rPr lang="en-US" sz="1120" dirty="0">
                <a:solidFill>
                  <a:srgbClr val="1B2A28"/>
                </a:solidFill>
                <a:latin typeface="Aptos" pitchFamily="34" charset="0"/>
                <a:ea typeface="Aptos" pitchFamily="34" charset="-122"/>
                <a:cs typeface="Aptos" pitchFamily="34" charset="-120"/>
              </a:rPr>
              <a:t>The global connection hub for spiritual retreats - where seekers find the right retreat and retreat professionals find the right people, tools, visibility, and support.</a:t>
            </a:r>
            <a:endParaRPr lang="en-US" sz="1120" dirty="0"/>
          </a:p>
        </p:txBody>
      </p:sp>
      <p:sp>
        <p:nvSpPr>
          <p:cNvPr id="14" name="Text 10"/>
          <p:cNvSpPr/>
          <p:nvPr/>
        </p:nvSpPr>
        <p:spPr>
          <a:xfrm>
            <a:off x="7818120" y="3657600"/>
            <a:ext cx="3246120" cy="292608"/>
          </a:xfrm>
          <a:prstGeom prst="rect">
            <a:avLst/>
          </a:prstGeom>
          <a:noFill/>
          <a:ln/>
        </p:spPr>
        <p:txBody>
          <a:bodyPr wrap="square" lIns="0" tIns="0" rIns="0" bIns="0" rtlCol="0" anchor="ctr"/>
          <a:lstStyle/>
          <a:p>
            <a:pPr indent="0" marL="0">
              <a:buNone/>
            </a:pPr>
            <a:r>
              <a:rPr lang="en-US" sz="1800" b="1" dirty="0">
                <a:solidFill>
                  <a:srgbClr val="0B4A36"/>
                </a:solidFill>
                <a:latin typeface="Georgia" pitchFamily="34" charset="0"/>
                <a:ea typeface="Georgia" pitchFamily="34" charset="-122"/>
                <a:cs typeface="Georgia" pitchFamily="34" charset="-120"/>
              </a:rPr>
              <a:t>Brand mantra</a:t>
            </a:r>
            <a:endParaRPr lang="en-US" sz="1800" dirty="0"/>
          </a:p>
        </p:txBody>
      </p:sp>
      <p:sp>
        <p:nvSpPr>
          <p:cNvPr id="15" name="Text 11"/>
          <p:cNvSpPr/>
          <p:nvPr/>
        </p:nvSpPr>
        <p:spPr>
          <a:xfrm>
            <a:off x="7818120" y="4041648"/>
            <a:ext cx="3246120" cy="484632"/>
          </a:xfrm>
          <a:prstGeom prst="rect">
            <a:avLst/>
          </a:prstGeom>
          <a:noFill/>
          <a:ln/>
        </p:spPr>
        <p:txBody>
          <a:bodyPr wrap="square" lIns="381" tIns="381" rIns="381" bIns="381" rtlCol="0" anchor="t">
            <a:normAutofit/>
          </a:bodyPr>
          <a:lstStyle/>
          <a:p>
            <a:pPr indent="0" marL="0">
              <a:buNone/>
            </a:pPr>
            <a:r>
              <a:rPr lang="en-US" sz="1250" dirty="0">
                <a:solidFill>
                  <a:srgbClr val="1B2A28"/>
                </a:solidFill>
                <a:latin typeface="Aptos" pitchFamily="34" charset="0"/>
                <a:ea typeface="Aptos" pitchFamily="34" charset="-122"/>
                <a:cs typeface="Aptos" pitchFamily="34" charset="-120"/>
              </a:rPr>
              <a:t>Grounded in nature. Guided by spirit. Built for trust.</a:t>
            </a:r>
            <a:endParaRPr lang="en-US" sz="1250" dirty="0"/>
          </a:p>
        </p:txBody>
      </p:sp>
      <p:sp>
        <p:nvSpPr>
          <p:cNvPr id="16" name="Text 12"/>
          <p:cNvSpPr/>
          <p:nvPr/>
        </p:nvSpPr>
        <p:spPr>
          <a:xfrm>
            <a:off x="4160520" y="5596128"/>
            <a:ext cx="6949440" cy="274320"/>
          </a:xfrm>
          <a:prstGeom prst="rect">
            <a:avLst/>
          </a:prstGeom>
          <a:noFill/>
          <a:ln/>
        </p:spPr>
        <p:txBody>
          <a:bodyPr wrap="square" lIns="0" tIns="0" rIns="0" bIns="0" rtlCol="0" anchor="ctr"/>
          <a:lstStyle/>
          <a:p>
            <a:pPr indent="0" marL="0">
              <a:buNone/>
            </a:pPr>
            <a:r>
              <a:rPr lang="en-US" sz="1500" b="1" dirty="0">
                <a:solidFill>
                  <a:srgbClr val="0B4A36"/>
                </a:solidFill>
                <a:latin typeface="Georgia" pitchFamily="34" charset="0"/>
                <a:ea typeface="Georgia" pitchFamily="34" charset="-122"/>
                <a:cs typeface="Georgia" pitchFamily="34" charset="-120"/>
              </a:rPr>
              <a:t>Core feeling: calm, premium, human, spiritual, professional, and quietly powerful.</a:t>
            </a:r>
            <a:endParaRPr lang="en-US" sz="1500" dirty="0"/>
          </a:p>
        </p:txBody>
      </p:sp>
      <p:sp>
        <p:nvSpPr>
          <p:cNvPr id="17" name="Text 13"/>
          <p:cNvSpPr/>
          <p:nvPr/>
        </p:nvSpPr>
        <p:spPr>
          <a:xfrm>
            <a:off x="502920" y="6510528"/>
            <a:ext cx="5029200" cy="164592"/>
          </a:xfrm>
          <a:prstGeom prst="rect">
            <a:avLst/>
          </a:prstGeom>
          <a:noFill/>
          <a:ln/>
        </p:spPr>
        <p:txBody>
          <a:bodyPr wrap="square" lIns="0" tIns="0" rIns="0" bIns="0" rtlCol="0" anchor="ctr"/>
          <a:lstStyle/>
          <a:p>
            <a:pPr indent="0" marL="0">
              <a:buNone/>
            </a:pPr>
            <a:r>
              <a:rPr lang="en-US" sz="750" dirty="0">
                <a:solidFill>
                  <a:srgbClr val="7C8680"/>
                </a:solidFill>
                <a:latin typeface="Aptos" pitchFamily="34" charset="0"/>
                <a:ea typeface="Aptos" pitchFamily="34" charset="-122"/>
                <a:cs typeface="Aptos" pitchFamily="34" charset="-120"/>
              </a:rPr>
              <a:t>SpiritualRetreats.network  |  Brand Portfolio</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7EE"/>
        </a:solidFill>
      </p:bgPr>
    </p:bg>
    <p:spTree>
      <p:nvGrpSpPr>
        <p:cNvPr id="1" name=""/>
        <p:cNvGrpSpPr/>
        <p:nvPr/>
      </p:nvGrpSpPr>
      <p:grpSpPr>
        <a:xfrm>
          <a:off x="0" y="0"/>
          <a:ext cx="0" cy="0"/>
          <a:chOff x="0" y="0"/>
          <a:chExt cx="0" cy="0"/>
        </a:xfrm>
      </p:grpSpPr>
      <p:sp>
        <p:nvSpPr>
          <p:cNvPr id="2" name="Text 0"/>
          <p:cNvSpPr/>
          <p:nvPr/>
        </p:nvSpPr>
        <p:spPr>
          <a:xfrm>
            <a:off x="502920" y="320040"/>
            <a:ext cx="1005840" cy="320040"/>
          </a:xfrm>
          <a:prstGeom prst="rect">
            <a:avLst/>
          </a:prstGeom>
          <a:noFill/>
          <a:ln/>
        </p:spPr>
        <p:txBody>
          <a:bodyPr wrap="square" lIns="0" tIns="0" rIns="0" bIns="0" rtlCol="0" anchor="ctr"/>
          <a:lstStyle/>
          <a:p>
            <a:pPr indent="0" marL="0">
              <a:buNone/>
            </a:pPr>
            <a:r>
              <a:rPr lang="en-US" sz="1200" b="1" dirty="0">
                <a:solidFill>
                  <a:srgbClr val="D9A233"/>
                </a:solidFill>
                <a:latin typeface="Aptos" pitchFamily="34" charset="0"/>
                <a:ea typeface="Aptos" pitchFamily="34" charset="-122"/>
                <a:cs typeface="Aptos" pitchFamily="34" charset="-120"/>
              </a:rPr>
              <a:t>03</a:t>
            </a:r>
            <a:endParaRPr lang="en-US" sz="1200" dirty="0"/>
          </a:p>
        </p:txBody>
      </p:sp>
      <p:sp>
        <p:nvSpPr>
          <p:cNvPr id="3" name="Text 1"/>
          <p:cNvSpPr/>
          <p:nvPr/>
        </p:nvSpPr>
        <p:spPr>
          <a:xfrm>
            <a:off x="502920" y="658368"/>
            <a:ext cx="8046720" cy="502920"/>
          </a:xfrm>
          <a:prstGeom prst="rect">
            <a:avLst/>
          </a:prstGeom>
          <a:noFill/>
          <a:ln/>
        </p:spPr>
        <p:txBody>
          <a:bodyPr wrap="square" lIns="0" tIns="0" rIns="0" bIns="0" rtlCol="0" anchor="ctr"/>
          <a:lstStyle/>
          <a:p>
            <a:pPr indent="0" marL="0">
              <a:buNone/>
            </a:pPr>
            <a:r>
              <a:rPr lang="en-US" sz="2800" b="1" dirty="0">
                <a:solidFill>
                  <a:srgbClr val="0B4A36"/>
                </a:solidFill>
                <a:latin typeface="Georgia" pitchFamily="34" charset="0"/>
                <a:ea typeface="Georgia" pitchFamily="34" charset="-122"/>
                <a:cs typeface="Georgia" pitchFamily="34" charset="-120"/>
              </a:rPr>
              <a:t>Logo System</a:t>
            </a:r>
            <a:endParaRPr lang="en-US" sz="2800" dirty="0"/>
          </a:p>
        </p:txBody>
      </p:sp>
      <p:sp>
        <p:nvSpPr>
          <p:cNvPr id="4" name="Text 2"/>
          <p:cNvSpPr/>
          <p:nvPr/>
        </p:nvSpPr>
        <p:spPr>
          <a:xfrm>
            <a:off x="502920" y="1170432"/>
            <a:ext cx="8778240" cy="301752"/>
          </a:xfrm>
          <a:prstGeom prst="rect">
            <a:avLst/>
          </a:prstGeom>
          <a:noFill/>
          <a:ln/>
        </p:spPr>
        <p:txBody>
          <a:bodyPr wrap="square" lIns="0" tIns="0" rIns="0" bIns="0" rtlCol="0" anchor="ctr"/>
          <a:lstStyle/>
          <a:p>
            <a:pPr indent="0" marL="0">
              <a:buNone/>
            </a:pPr>
            <a:r>
              <a:rPr lang="en-US" sz="1250" dirty="0">
                <a:solidFill>
                  <a:srgbClr val="B77938"/>
                </a:solidFill>
                <a:latin typeface="Aptos" pitchFamily="34" charset="0"/>
                <a:ea typeface="Aptos" pitchFamily="34" charset="-122"/>
                <a:cs typeface="Aptos" pitchFamily="34" charset="-120"/>
              </a:rPr>
              <a:t>The lotus is the sacred master symbol. The geometry gives it structure, mystery, and authority.</a:t>
            </a:r>
            <a:endParaRPr lang="en-US" sz="1250" dirty="0"/>
          </a:p>
        </p:txBody>
      </p:sp>
      <p:sp>
        <p:nvSpPr>
          <p:cNvPr id="5" name="Shape 3"/>
          <p:cNvSpPr/>
          <p:nvPr/>
        </p:nvSpPr>
        <p:spPr>
          <a:xfrm>
            <a:off x="502920" y="1581912"/>
            <a:ext cx="1920240" cy="0"/>
          </a:xfrm>
          <a:prstGeom prst="line">
            <a:avLst/>
          </a:prstGeom>
          <a:noFill/>
          <a:ln w="15240">
            <a:solidFill>
              <a:srgbClr val="D9A233"/>
            </a:solidFill>
            <a:prstDash val="solid"/>
          </a:ln>
        </p:spPr>
      </p:sp>
      <p:pic>
        <p:nvPicPr>
          <p:cNvPr id="6" name="Image 0" descr="/mnt/data/SpiritualRetreats_assets/logo_mark_geometry_lotus.png">    </p:cNvPr>
          <p:cNvPicPr>
            <a:picLocks noChangeAspect="1"/>
          </p:cNvPicPr>
          <p:nvPr/>
        </p:nvPicPr>
        <p:blipFill>
          <a:blip r:embed="rId1"/>
          <a:srcRect l="0" r="0" t="9774" b="9774"/>
          <a:stretch/>
        </p:blipFill>
        <p:spPr>
          <a:xfrm>
            <a:off x="10789920" y="228600"/>
            <a:ext cx="777240" cy="777240"/>
          </a:xfrm>
          <a:prstGeom prst="rect">
            <a:avLst/>
          </a:prstGeom>
        </p:spPr>
      </p:pic>
      <p:pic>
        <p:nvPicPr>
          <p:cNvPr id="7" name="Image 1" descr="/mnt/data/SpiritualRetreats_assets/logo_master_navy_gold.png">    </p:cNvPr>
          <p:cNvPicPr>
            <a:picLocks noChangeAspect="1"/>
          </p:cNvPicPr>
          <p:nvPr/>
        </p:nvPicPr>
        <p:blipFill>
          <a:blip r:embed="rId2"/>
          <a:srcRect l="0" r="0" t="0" b="0"/>
          <a:stretch/>
        </p:blipFill>
        <p:spPr>
          <a:xfrm>
            <a:off x="685800" y="1828800"/>
            <a:ext cx="2834640" cy="2834640"/>
          </a:xfrm>
          <a:prstGeom prst="rect">
            <a:avLst/>
          </a:prstGeom>
        </p:spPr>
      </p:pic>
      <p:pic>
        <p:nvPicPr>
          <p:cNvPr id="8" name="Image 2" descr="/mnt/data/SpiritualRetreats_assets/logo_mark_geometry_lotus.png">    </p:cNvPr>
          <p:cNvPicPr>
            <a:picLocks noChangeAspect="1"/>
          </p:cNvPicPr>
          <p:nvPr/>
        </p:nvPicPr>
        <p:blipFill>
          <a:blip r:embed="rId3"/>
          <a:srcRect l="709" r="709" t="0" b="0"/>
          <a:stretch/>
        </p:blipFill>
        <p:spPr>
          <a:xfrm>
            <a:off x="3977640" y="1828800"/>
            <a:ext cx="2103120" cy="2651760"/>
          </a:xfrm>
          <a:prstGeom prst="rect">
            <a:avLst/>
          </a:prstGeom>
        </p:spPr>
      </p:pic>
      <p:sp>
        <p:nvSpPr>
          <p:cNvPr id="9" name="Shape 4"/>
          <p:cNvSpPr/>
          <p:nvPr/>
        </p:nvSpPr>
        <p:spPr>
          <a:xfrm>
            <a:off x="6537960" y="2148840"/>
            <a:ext cx="4434840" cy="1325880"/>
          </a:xfrm>
          <a:prstGeom prst="rect">
            <a:avLst/>
          </a:prstGeom>
          <a:solidFill>
            <a:srgbClr val="061A33"/>
          </a:solidFill>
          <a:ln w="12700">
            <a:solidFill>
              <a:srgbClr val="061A33"/>
            </a:solidFill>
            <a:prstDash val="solid"/>
          </a:ln>
        </p:spPr>
      </p:sp>
      <p:sp>
        <p:nvSpPr>
          <p:cNvPr id="10" name="Text 5"/>
          <p:cNvSpPr/>
          <p:nvPr/>
        </p:nvSpPr>
        <p:spPr>
          <a:xfrm>
            <a:off x="6720840" y="2532888"/>
            <a:ext cx="4069080" cy="310896"/>
          </a:xfrm>
          <a:prstGeom prst="rect">
            <a:avLst/>
          </a:prstGeom>
          <a:noFill/>
          <a:ln/>
        </p:spPr>
        <p:txBody>
          <a:bodyPr wrap="square" lIns="0" tIns="0" rIns="0" bIns="0" rtlCol="0" anchor="ctr"/>
          <a:lstStyle/>
          <a:p>
            <a:pPr algn="ctr" indent="0" marL="0">
              <a:buNone/>
            </a:pPr>
            <a:r>
              <a:rPr lang="en-US" sz="2000" dirty="0">
                <a:solidFill>
                  <a:srgbClr val="F4D675"/>
                </a:solidFill>
                <a:latin typeface="Georgia" pitchFamily="34" charset="0"/>
                <a:ea typeface="Georgia" pitchFamily="34" charset="-122"/>
                <a:cs typeface="Georgia" pitchFamily="34" charset="-120"/>
              </a:rPr>
              <a:t>SPIRITUAL RETREAT</a:t>
            </a:r>
            <a:endParaRPr lang="en-US" sz="2000" dirty="0"/>
          </a:p>
        </p:txBody>
      </p:sp>
      <p:sp>
        <p:nvSpPr>
          <p:cNvPr id="11" name="Text 6"/>
          <p:cNvSpPr/>
          <p:nvPr/>
        </p:nvSpPr>
        <p:spPr>
          <a:xfrm>
            <a:off x="7818120" y="2944368"/>
            <a:ext cx="1874520" cy="201168"/>
          </a:xfrm>
          <a:prstGeom prst="rect">
            <a:avLst/>
          </a:prstGeom>
          <a:noFill/>
          <a:ln/>
        </p:spPr>
        <p:txBody>
          <a:bodyPr wrap="square" lIns="0" tIns="0" rIns="0" bIns="0" rtlCol="0" anchor="ctr"/>
          <a:lstStyle/>
          <a:p>
            <a:pPr algn="ctr" indent="0" marL="0">
              <a:buNone/>
            </a:pPr>
            <a:r>
              <a:rPr lang="en-US" sz="1050" dirty="0">
                <a:solidFill>
                  <a:srgbClr val="D9A233"/>
                </a:solidFill>
                <a:latin typeface="Aptos" pitchFamily="34" charset="0"/>
                <a:ea typeface="Aptos" pitchFamily="34" charset="-122"/>
                <a:cs typeface="Aptos" pitchFamily="34" charset="-120"/>
              </a:rPr>
              <a:t>NETWORK</a:t>
            </a:r>
            <a:endParaRPr lang="en-US" sz="1050" dirty="0"/>
          </a:p>
        </p:txBody>
      </p:sp>
      <p:sp>
        <p:nvSpPr>
          <p:cNvPr id="12" name="Text 7"/>
          <p:cNvSpPr/>
          <p:nvPr/>
        </p:nvSpPr>
        <p:spPr>
          <a:xfrm>
            <a:off x="685800" y="4800600"/>
            <a:ext cx="2834640" cy="219456"/>
          </a:xfrm>
          <a:prstGeom prst="rect">
            <a:avLst/>
          </a:prstGeom>
          <a:noFill/>
          <a:ln/>
        </p:spPr>
        <p:txBody>
          <a:bodyPr wrap="square" lIns="0" tIns="0" rIns="0" bIns="0" rtlCol="0" anchor="ctr"/>
          <a:lstStyle/>
          <a:p>
            <a:pPr algn="ctr" indent="0" marL="0">
              <a:buNone/>
            </a:pPr>
            <a:r>
              <a:rPr lang="en-US" sz="1050" b="1" dirty="0">
                <a:solidFill>
                  <a:srgbClr val="0B4A36"/>
                </a:solidFill>
                <a:latin typeface="Aptos" pitchFamily="34" charset="0"/>
                <a:ea typeface="Aptos" pitchFamily="34" charset="-122"/>
                <a:cs typeface="Aptos" pitchFamily="34" charset="-120"/>
              </a:rPr>
              <a:t>Master lockup</a:t>
            </a:r>
            <a:endParaRPr lang="en-US" sz="1050" dirty="0"/>
          </a:p>
        </p:txBody>
      </p:sp>
      <p:sp>
        <p:nvSpPr>
          <p:cNvPr id="13" name="Text 8"/>
          <p:cNvSpPr/>
          <p:nvPr/>
        </p:nvSpPr>
        <p:spPr>
          <a:xfrm>
            <a:off x="685800" y="5084064"/>
            <a:ext cx="2834640" cy="228600"/>
          </a:xfrm>
          <a:prstGeom prst="rect">
            <a:avLst/>
          </a:prstGeom>
          <a:noFill/>
          <a:ln/>
        </p:spPr>
        <p:txBody>
          <a:bodyPr wrap="square" lIns="0" tIns="0" rIns="0" bIns="0" rtlCol="0" anchor="ctr"/>
          <a:lstStyle/>
          <a:p>
            <a:pPr algn="ctr" indent="0" marL="0">
              <a:buNone/>
            </a:pPr>
            <a:r>
              <a:rPr lang="en-US" sz="920" dirty="0">
                <a:solidFill>
                  <a:srgbClr val="5E6A63"/>
                </a:solidFill>
                <a:latin typeface="Aptos" pitchFamily="34" charset="0"/>
                <a:ea typeface="Aptos" pitchFamily="34" charset="-122"/>
                <a:cs typeface="Aptos" pitchFamily="34" charset="-120"/>
              </a:rPr>
              <a:t>Use on navy or deep image backgrounds.</a:t>
            </a:r>
            <a:endParaRPr lang="en-US" sz="920" dirty="0"/>
          </a:p>
        </p:txBody>
      </p:sp>
      <p:sp>
        <p:nvSpPr>
          <p:cNvPr id="14" name="Text 9"/>
          <p:cNvSpPr/>
          <p:nvPr/>
        </p:nvSpPr>
        <p:spPr>
          <a:xfrm>
            <a:off x="3977640" y="4800600"/>
            <a:ext cx="2103120" cy="219456"/>
          </a:xfrm>
          <a:prstGeom prst="rect">
            <a:avLst/>
          </a:prstGeom>
          <a:noFill/>
          <a:ln/>
        </p:spPr>
        <p:txBody>
          <a:bodyPr wrap="square" lIns="0" tIns="0" rIns="0" bIns="0" rtlCol="0" anchor="ctr"/>
          <a:lstStyle/>
          <a:p>
            <a:pPr algn="ctr" indent="0" marL="0">
              <a:buNone/>
            </a:pPr>
            <a:r>
              <a:rPr lang="en-US" sz="1050" b="1" dirty="0">
                <a:solidFill>
                  <a:srgbClr val="0B4A36"/>
                </a:solidFill>
                <a:latin typeface="Aptos" pitchFamily="34" charset="0"/>
                <a:ea typeface="Aptos" pitchFamily="34" charset="-122"/>
                <a:cs typeface="Aptos" pitchFamily="34" charset="-120"/>
              </a:rPr>
              <a:t>Sacred mark</a:t>
            </a:r>
            <a:endParaRPr lang="en-US" sz="1050" dirty="0"/>
          </a:p>
        </p:txBody>
      </p:sp>
      <p:sp>
        <p:nvSpPr>
          <p:cNvPr id="15" name="Text 10"/>
          <p:cNvSpPr/>
          <p:nvPr/>
        </p:nvSpPr>
        <p:spPr>
          <a:xfrm>
            <a:off x="3657600" y="5084064"/>
            <a:ext cx="2743200" cy="228600"/>
          </a:xfrm>
          <a:prstGeom prst="rect">
            <a:avLst/>
          </a:prstGeom>
          <a:noFill/>
          <a:ln/>
        </p:spPr>
        <p:txBody>
          <a:bodyPr wrap="square" lIns="0" tIns="0" rIns="0" bIns="0" rtlCol="0" anchor="ctr"/>
          <a:lstStyle/>
          <a:p>
            <a:pPr algn="ctr" indent="0" marL="0">
              <a:buNone/>
            </a:pPr>
            <a:r>
              <a:rPr lang="en-US" sz="920" dirty="0">
                <a:solidFill>
                  <a:srgbClr val="5E6A63"/>
                </a:solidFill>
                <a:latin typeface="Aptos" pitchFamily="34" charset="0"/>
                <a:ea typeface="Aptos" pitchFamily="34" charset="-122"/>
                <a:cs typeface="Aptos" pitchFamily="34" charset="-120"/>
              </a:rPr>
              <a:t>Use for favicon, social avatar, stamps, seals.</a:t>
            </a:r>
            <a:endParaRPr lang="en-US" sz="920" dirty="0"/>
          </a:p>
        </p:txBody>
      </p:sp>
      <p:sp>
        <p:nvSpPr>
          <p:cNvPr id="16" name="Text 11"/>
          <p:cNvSpPr/>
          <p:nvPr/>
        </p:nvSpPr>
        <p:spPr>
          <a:xfrm>
            <a:off x="6537960" y="4800600"/>
            <a:ext cx="4434840" cy="219456"/>
          </a:xfrm>
          <a:prstGeom prst="rect">
            <a:avLst/>
          </a:prstGeom>
          <a:noFill/>
          <a:ln/>
        </p:spPr>
        <p:txBody>
          <a:bodyPr wrap="square" lIns="0" tIns="0" rIns="0" bIns="0" rtlCol="0" anchor="ctr"/>
          <a:lstStyle/>
          <a:p>
            <a:pPr algn="ctr" indent="0" marL="0">
              <a:buNone/>
            </a:pPr>
            <a:r>
              <a:rPr lang="en-US" sz="1050" b="1" dirty="0">
                <a:solidFill>
                  <a:srgbClr val="0B4A36"/>
                </a:solidFill>
                <a:latin typeface="Aptos" pitchFamily="34" charset="0"/>
                <a:ea typeface="Aptos" pitchFamily="34" charset="-122"/>
                <a:cs typeface="Aptos" pitchFamily="34" charset="-120"/>
              </a:rPr>
              <a:t>Wordmark</a:t>
            </a:r>
            <a:endParaRPr lang="en-US" sz="1050" dirty="0"/>
          </a:p>
        </p:txBody>
      </p:sp>
      <p:sp>
        <p:nvSpPr>
          <p:cNvPr id="17" name="Text 12"/>
          <p:cNvSpPr/>
          <p:nvPr/>
        </p:nvSpPr>
        <p:spPr>
          <a:xfrm>
            <a:off x="6537960" y="5084064"/>
            <a:ext cx="4434840" cy="228600"/>
          </a:xfrm>
          <a:prstGeom prst="rect">
            <a:avLst/>
          </a:prstGeom>
          <a:noFill/>
          <a:ln/>
        </p:spPr>
        <p:txBody>
          <a:bodyPr wrap="square" lIns="0" tIns="0" rIns="0" bIns="0" rtlCol="0" anchor="ctr"/>
          <a:lstStyle/>
          <a:p>
            <a:pPr algn="ctr" indent="0" marL="0">
              <a:buNone/>
            </a:pPr>
            <a:r>
              <a:rPr lang="en-US" sz="920" dirty="0">
                <a:solidFill>
                  <a:srgbClr val="5E6A63"/>
                </a:solidFill>
                <a:latin typeface="Aptos" pitchFamily="34" charset="0"/>
                <a:ea typeface="Aptos" pitchFamily="34" charset="-122"/>
                <a:cs typeface="Aptos" pitchFamily="34" charset="-120"/>
              </a:rPr>
              <a:t>Use when the full lotus mark is already present nearby.</a:t>
            </a:r>
            <a:endParaRPr lang="en-US" sz="920" dirty="0"/>
          </a:p>
        </p:txBody>
      </p:sp>
      <p:sp>
        <p:nvSpPr>
          <p:cNvPr id="18" name="Text 13"/>
          <p:cNvSpPr/>
          <p:nvPr/>
        </p:nvSpPr>
        <p:spPr>
          <a:xfrm>
            <a:off x="502920" y="6510528"/>
            <a:ext cx="5029200" cy="164592"/>
          </a:xfrm>
          <a:prstGeom prst="rect">
            <a:avLst/>
          </a:prstGeom>
          <a:noFill/>
          <a:ln/>
        </p:spPr>
        <p:txBody>
          <a:bodyPr wrap="square" lIns="0" tIns="0" rIns="0" bIns="0" rtlCol="0" anchor="ctr"/>
          <a:lstStyle/>
          <a:p>
            <a:pPr indent="0" marL="0">
              <a:buNone/>
            </a:pPr>
            <a:r>
              <a:rPr lang="en-US" sz="750" dirty="0">
                <a:solidFill>
                  <a:srgbClr val="7C8680"/>
                </a:solidFill>
                <a:latin typeface="Aptos" pitchFamily="34" charset="0"/>
                <a:ea typeface="Aptos" pitchFamily="34" charset="-122"/>
                <a:cs typeface="Aptos" pitchFamily="34" charset="-120"/>
              </a:rPr>
              <a:t>SpiritualRetreats.network  |  Brand Portfolio</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2E7"/>
        </a:solidFill>
      </p:bgPr>
    </p:bg>
    <p:spTree>
      <p:nvGrpSpPr>
        <p:cNvPr id="1" name=""/>
        <p:cNvGrpSpPr/>
        <p:nvPr/>
      </p:nvGrpSpPr>
      <p:grpSpPr>
        <a:xfrm>
          <a:off x="0" y="0"/>
          <a:ext cx="0" cy="0"/>
          <a:chOff x="0" y="0"/>
          <a:chExt cx="0" cy="0"/>
        </a:xfrm>
      </p:grpSpPr>
      <p:sp>
        <p:nvSpPr>
          <p:cNvPr id="2" name="Text 0"/>
          <p:cNvSpPr/>
          <p:nvPr/>
        </p:nvSpPr>
        <p:spPr>
          <a:xfrm>
            <a:off x="502920" y="320040"/>
            <a:ext cx="1005840" cy="320040"/>
          </a:xfrm>
          <a:prstGeom prst="rect">
            <a:avLst/>
          </a:prstGeom>
          <a:noFill/>
          <a:ln/>
        </p:spPr>
        <p:txBody>
          <a:bodyPr wrap="square" lIns="0" tIns="0" rIns="0" bIns="0" rtlCol="0" anchor="ctr"/>
          <a:lstStyle/>
          <a:p>
            <a:pPr indent="0" marL="0">
              <a:buNone/>
            </a:pPr>
            <a:r>
              <a:rPr lang="en-US" sz="1200" b="1" dirty="0">
                <a:solidFill>
                  <a:srgbClr val="D9A233"/>
                </a:solidFill>
                <a:latin typeface="Aptos" pitchFamily="34" charset="0"/>
                <a:ea typeface="Aptos" pitchFamily="34" charset="-122"/>
                <a:cs typeface="Aptos" pitchFamily="34" charset="-120"/>
              </a:rPr>
              <a:t>04</a:t>
            </a:r>
            <a:endParaRPr lang="en-US" sz="1200" dirty="0"/>
          </a:p>
        </p:txBody>
      </p:sp>
      <p:sp>
        <p:nvSpPr>
          <p:cNvPr id="3" name="Text 1"/>
          <p:cNvSpPr/>
          <p:nvPr/>
        </p:nvSpPr>
        <p:spPr>
          <a:xfrm>
            <a:off x="502920" y="658368"/>
            <a:ext cx="8046720" cy="502920"/>
          </a:xfrm>
          <a:prstGeom prst="rect">
            <a:avLst/>
          </a:prstGeom>
          <a:noFill/>
          <a:ln/>
        </p:spPr>
        <p:txBody>
          <a:bodyPr wrap="square" lIns="0" tIns="0" rIns="0" bIns="0" rtlCol="0" anchor="ctr"/>
          <a:lstStyle/>
          <a:p>
            <a:pPr indent="0" marL="0">
              <a:buNone/>
            </a:pPr>
            <a:r>
              <a:rPr lang="en-US" sz="2800" b="1" dirty="0">
                <a:solidFill>
                  <a:srgbClr val="0B4A36"/>
                </a:solidFill>
                <a:latin typeface="Georgia" pitchFamily="34" charset="0"/>
                <a:ea typeface="Georgia" pitchFamily="34" charset="-122"/>
                <a:cs typeface="Georgia" pitchFamily="34" charset="-120"/>
              </a:rPr>
              <a:t>Colour System</a:t>
            </a:r>
            <a:endParaRPr lang="en-US" sz="2800" dirty="0"/>
          </a:p>
        </p:txBody>
      </p:sp>
      <p:sp>
        <p:nvSpPr>
          <p:cNvPr id="4" name="Text 2"/>
          <p:cNvSpPr/>
          <p:nvPr/>
        </p:nvSpPr>
        <p:spPr>
          <a:xfrm>
            <a:off x="502920" y="1170432"/>
            <a:ext cx="8778240" cy="301752"/>
          </a:xfrm>
          <a:prstGeom prst="rect">
            <a:avLst/>
          </a:prstGeom>
          <a:noFill/>
          <a:ln/>
        </p:spPr>
        <p:txBody>
          <a:bodyPr wrap="square" lIns="0" tIns="0" rIns="0" bIns="0" rtlCol="0" anchor="ctr"/>
          <a:lstStyle/>
          <a:p>
            <a:pPr indent="0" marL="0">
              <a:buNone/>
            </a:pPr>
            <a:r>
              <a:rPr lang="en-US" sz="1250" dirty="0">
                <a:solidFill>
                  <a:srgbClr val="B77938"/>
                </a:solidFill>
                <a:latin typeface="Aptos" pitchFamily="34" charset="0"/>
                <a:ea typeface="Aptos" pitchFamily="34" charset="-122"/>
                <a:cs typeface="Aptos" pitchFamily="34" charset="-120"/>
              </a:rPr>
              <a:t>A blended palette: celestial blue, living green, transformation gold, and soft natural light.</a:t>
            </a:r>
            <a:endParaRPr lang="en-US" sz="1250" dirty="0"/>
          </a:p>
        </p:txBody>
      </p:sp>
      <p:sp>
        <p:nvSpPr>
          <p:cNvPr id="5" name="Shape 3"/>
          <p:cNvSpPr/>
          <p:nvPr/>
        </p:nvSpPr>
        <p:spPr>
          <a:xfrm>
            <a:off x="502920" y="1581912"/>
            <a:ext cx="1920240" cy="0"/>
          </a:xfrm>
          <a:prstGeom prst="line">
            <a:avLst/>
          </a:prstGeom>
          <a:noFill/>
          <a:ln w="15240">
            <a:solidFill>
              <a:srgbClr val="D9A233"/>
            </a:solidFill>
            <a:prstDash val="solid"/>
          </a:ln>
        </p:spPr>
      </p:sp>
      <p:pic>
        <p:nvPicPr>
          <p:cNvPr id="6" name="Image 0" descr="/mnt/data/SpiritualRetreats_assets/logo_mark_geometry_lotus.png">    </p:cNvPr>
          <p:cNvPicPr>
            <a:picLocks noChangeAspect="1"/>
          </p:cNvPicPr>
          <p:nvPr/>
        </p:nvPicPr>
        <p:blipFill>
          <a:blip r:embed="rId1"/>
          <a:srcRect l="0" r="0" t="9774" b="9774"/>
          <a:stretch/>
        </p:blipFill>
        <p:spPr>
          <a:xfrm>
            <a:off x="10789920" y="228600"/>
            <a:ext cx="777240" cy="777240"/>
          </a:xfrm>
          <a:prstGeom prst="rect">
            <a:avLst/>
          </a:prstGeom>
        </p:spPr>
      </p:pic>
      <p:sp>
        <p:nvSpPr>
          <p:cNvPr id="7" name="Text 4"/>
          <p:cNvSpPr/>
          <p:nvPr/>
        </p:nvSpPr>
        <p:spPr>
          <a:xfrm>
            <a:off x="640080" y="1847088"/>
            <a:ext cx="2743200" cy="228600"/>
          </a:xfrm>
          <a:prstGeom prst="rect">
            <a:avLst/>
          </a:prstGeom>
          <a:noFill/>
          <a:ln/>
        </p:spPr>
        <p:txBody>
          <a:bodyPr wrap="square" lIns="0" tIns="0" rIns="0" bIns="0" rtlCol="0" anchor="ctr"/>
          <a:lstStyle/>
          <a:p>
            <a:pPr indent="0" marL="0">
              <a:buNone/>
            </a:pPr>
            <a:r>
              <a:rPr lang="en-US" sz="1600" b="1" dirty="0">
                <a:solidFill>
                  <a:srgbClr val="0B4A36"/>
                </a:solidFill>
                <a:latin typeface="Georgia" pitchFamily="34" charset="0"/>
                <a:ea typeface="Georgia" pitchFamily="34" charset="-122"/>
                <a:cs typeface="Georgia" pitchFamily="34" charset="-120"/>
              </a:rPr>
              <a:t>Primary colours</a:t>
            </a:r>
            <a:endParaRPr lang="en-US" sz="1600" dirty="0"/>
          </a:p>
        </p:txBody>
      </p:sp>
      <p:sp>
        <p:nvSpPr>
          <p:cNvPr id="8" name="Shape 5"/>
          <p:cNvSpPr/>
          <p:nvPr/>
        </p:nvSpPr>
        <p:spPr>
          <a:xfrm>
            <a:off x="640080" y="2331720"/>
            <a:ext cx="1417320" cy="868680"/>
          </a:xfrm>
          <a:prstGeom prst="rect">
            <a:avLst/>
          </a:prstGeom>
          <a:solidFill>
            <a:srgbClr val="061A33"/>
          </a:solidFill>
          <a:ln w="12700">
            <a:solidFill>
              <a:srgbClr val="061A33"/>
            </a:solidFill>
            <a:prstDash val="solid"/>
          </a:ln>
        </p:spPr>
      </p:sp>
      <p:sp>
        <p:nvSpPr>
          <p:cNvPr id="9" name="Text 6"/>
          <p:cNvSpPr/>
          <p:nvPr/>
        </p:nvSpPr>
        <p:spPr>
          <a:xfrm>
            <a:off x="640080" y="3291840"/>
            <a:ext cx="1417320" cy="201168"/>
          </a:xfrm>
          <a:prstGeom prst="rect">
            <a:avLst/>
          </a:prstGeom>
          <a:noFill/>
          <a:ln/>
        </p:spPr>
        <p:txBody>
          <a:bodyPr wrap="square" lIns="0" tIns="0" rIns="0" bIns="0" rtlCol="0" anchor="ctr">
            <a:normAutofit/>
          </a:bodyPr>
          <a:lstStyle/>
          <a:p>
            <a:pPr indent="0" marL="0">
              <a:buNone/>
            </a:pPr>
            <a:r>
              <a:rPr lang="en-US" sz="920" b="1" dirty="0">
                <a:solidFill>
                  <a:srgbClr val="1B2A28"/>
                </a:solidFill>
                <a:latin typeface="Aptos" pitchFamily="34" charset="0"/>
                <a:ea typeface="Aptos" pitchFamily="34" charset="-122"/>
                <a:cs typeface="Aptos" pitchFamily="34" charset="-120"/>
              </a:rPr>
              <a:t>Celestial Navy</a:t>
            </a:r>
            <a:endParaRPr lang="en-US" sz="920" dirty="0"/>
          </a:p>
        </p:txBody>
      </p:sp>
      <p:sp>
        <p:nvSpPr>
          <p:cNvPr id="10" name="Text 7"/>
          <p:cNvSpPr/>
          <p:nvPr/>
        </p:nvSpPr>
        <p:spPr>
          <a:xfrm>
            <a:off x="640080" y="3511296"/>
            <a:ext cx="1417320" cy="182880"/>
          </a:xfrm>
          <a:prstGeom prst="rect">
            <a:avLst/>
          </a:prstGeom>
          <a:noFill/>
          <a:ln/>
        </p:spPr>
        <p:txBody>
          <a:bodyPr wrap="square" lIns="0" tIns="0" rIns="0" bIns="0" rtlCol="0" anchor="ctr"/>
          <a:lstStyle/>
          <a:p>
            <a:pPr indent="0" marL="0">
              <a:buNone/>
            </a:pPr>
            <a:r>
              <a:rPr lang="en-US" sz="840" dirty="0">
                <a:solidFill>
                  <a:srgbClr val="5E6A63"/>
                </a:solidFill>
                <a:latin typeface="Aptos" pitchFamily="34" charset="0"/>
                <a:ea typeface="Aptos" pitchFamily="34" charset="-122"/>
                <a:cs typeface="Aptos" pitchFamily="34" charset="-120"/>
              </a:rPr>
              <a:t>#061A33</a:t>
            </a:r>
            <a:endParaRPr lang="en-US" sz="840" dirty="0"/>
          </a:p>
        </p:txBody>
      </p:sp>
      <p:sp>
        <p:nvSpPr>
          <p:cNvPr id="11" name="Shape 8"/>
          <p:cNvSpPr/>
          <p:nvPr/>
        </p:nvSpPr>
        <p:spPr>
          <a:xfrm>
            <a:off x="2423160" y="2331720"/>
            <a:ext cx="1417320" cy="868680"/>
          </a:xfrm>
          <a:prstGeom prst="rect">
            <a:avLst/>
          </a:prstGeom>
          <a:solidFill>
            <a:srgbClr val="0B4A36"/>
          </a:solidFill>
          <a:ln w="12700">
            <a:solidFill>
              <a:srgbClr val="0B4A36"/>
            </a:solidFill>
            <a:prstDash val="solid"/>
          </a:ln>
        </p:spPr>
      </p:sp>
      <p:sp>
        <p:nvSpPr>
          <p:cNvPr id="12" name="Text 9"/>
          <p:cNvSpPr/>
          <p:nvPr/>
        </p:nvSpPr>
        <p:spPr>
          <a:xfrm>
            <a:off x="2423160" y="3291840"/>
            <a:ext cx="1417320" cy="201168"/>
          </a:xfrm>
          <a:prstGeom prst="rect">
            <a:avLst/>
          </a:prstGeom>
          <a:noFill/>
          <a:ln/>
        </p:spPr>
        <p:txBody>
          <a:bodyPr wrap="square" lIns="0" tIns="0" rIns="0" bIns="0" rtlCol="0" anchor="ctr">
            <a:normAutofit/>
          </a:bodyPr>
          <a:lstStyle/>
          <a:p>
            <a:pPr indent="0" marL="0">
              <a:buNone/>
            </a:pPr>
            <a:r>
              <a:rPr lang="en-US" sz="920" b="1" dirty="0">
                <a:solidFill>
                  <a:srgbClr val="1B2A28"/>
                </a:solidFill>
                <a:latin typeface="Aptos" pitchFamily="34" charset="0"/>
                <a:ea typeface="Aptos" pitchFamily="34" charset="-122"/>
                <a:cs typeface="Aptos" pitchFamily="34" charset="-120"/>
              </a:rPr>
              <a:t>Forest Retreat</a:t>
            </a:r>
            <a:endParaRPr lang="en-US" sz="920" dirty="0"/>
          </a:p>
        </p:txBody>
      </p:sp>
      <p:sp>
        <p:nvSpPr>
          <p:cNvPr id="13" name="Text 10"/>
          <p:cNvSpPr/>
          <p:nvPr/>
        </p:nvSpPr>
        <p:spPr>
          <a:xfrm>
            <a:off x="2423160" y="3511296"/>
            <a:ext cx="1417320" cy="182880"/>
          </a:xfrm>
          <a:prstGeom prst="rect">
            <a:avLst/>
          </a:prstGeom>
          <a:noFill/>
          <a:ln/>
        </p:spPr>
        <p:txBody>
          <a:bodyPr wrap="square" lIns="0" tIns="0" rIns="0" bIns="0" rtlCol="0" anchor="ctr"/>
          <a:lstStyle/>
          <a:p>
            <a:pPr indent="0" marL="0">
              <a:buNone/>
            </a:pPr>
            <a:r>
              <a:rPr lang="en-US" sz="840" dirty="0">
                <a:solidFill>
                  <a:srgbClr val="5E6A63"/>
                </a:solidFill>
                <a:latin typeface="Aptos" pitchFamily="34" charset="0"/>
                <a:ea typeface="Aptos" pitchFamily="34" charset="-122"/>
                <a:cs typeface="Aptos" pitchFamily="34" charset="-120"/>
              </a:rPr>
              <a:t>#0B4A36</a:t>
            </a:r>
            <a:endParaRPr lang="en-US" sz="840" dirty="0"/>
          </a:p>
        </p:txBody>
      </p:sp>
      <p:sp>
        <p:nvSpPr>
          <p:cNvPr id="14" name="Shape 11"/>
          <p:cNvSpPr/>
          <p:nvPr/>
        </p:nvSpPr>
        <p:spPr>
          <a:xfrm>
            <a:off x="4206240" y="2331720"/>
            <a:ext cx="1417320" cy="868680"/>
          </a:xfrm>
          <a:prstGeom prst="rect">
            <a:avLst/>
          </a:prstGeom>
          <a:solidFill>
            <a:srgbClr val="D9A233"/>
          </a:solidFill>
          <a:ln w="12700">
            <a:solidFill>
              <a:srgbClr val="D9A233"/>
            </a:solidFill>
            <a:prstDash val="solid"/>
          </a:ln>
        </p:spPr>
      </p:sp>
      <p:sp>
        <p:nvSpPr>
          <p:cNvPr id="15" name="Text 12"/>
          <p:cNvSpPr/>
          <p:nvPr/>
        </p:nvSpPr>
        <p:spPr>
          <a:xfrm>
            <a:off x="4206240" y="3291840"/>
            <a:ext cx="1417320" cy="201168"/>
          </a:xfrm>
          <a:prstGeom prst="rect">
            <a:avLst/>
          </a:prstGeom>
          <a:noFill/>
          <a:ln/>
        </p:spPr>
        <p:txBody>
          <a:bodyPr wrap="square" lIns="0" tIns="0" rIns="0" bIns="0" rtlCol="0" anchor="ctr">
            <a:normAutofit/>
          </a:bodyPr>
          <a:lstStyle/>
          <a:p>
            <a:pPr indent="0" marL="0">
              <a:buNone/>
            </a:pPr>
            <a:r>
              <a:rPr lang="en-US" sz="920" b="1" dirty="0">
                <a:solidFill>
                  <a:srgbClr val="1B2A28"/>
                </a:solidFill>
                <a:latin typeface="Aptos" pitchFamily="34" charset="0"/>
                <a:ea typeface="Aptos" pitchFamily="34" charset="-122"/>
                <a:cs typeface="Aptos" pitchFamily="34" charset="-120"/>
              </a:rPr>
              <a:t>Sacred Gold</a:t>
            </a:r>
            <a:endParaRPr lang="en-US" sz="920" dirty="0"/>
          </a:p>
        </p:txBody>
      </p:sp>
      <p:sp>
        <p:nvSpPr>
          <p:cNvPr id="16" name="Text 13"/>
          <p:cNvSpPr/>
          <p:nvPr/>
        </p:nvSpPr>
        <p:spPr>
          <a:xfrm>
            <a:off x="4206240" y="3511296"/>
            <a:ext cx="1417320" cy="182880"/>
          </a:xfrm>
          <a:prstGeom prst="rect">
            <a:avLst/>
          </a:prstGeom>
          <a:noFill/>
          <a:ln/>
        </p:spPr>
        <p:txBody>
          <a:bodyPr wrap="square" lIns="0" tIns="0" rIns="0" bIns="0" rtlCol="0" anchor="ctr"/>
          <a:lstStyle/>
          <a:p>
            <a:pPr indent="0" marL="0">
              <a:buNone/>
            </a:pPr>
            <a:r>
              <a:rPr lang="en-US" sz="840" dirty="0">
                <a:solidFill>
                  <a:srgbClr val="5E6A63"/>
                </a:solidFill>
                <a:latin typeface="Aptos" pitchFamily="34" charset="0"/>
                <a:ea typeface="Aptos" pitchFamily="34" charset="-122"/>
                <a:cs typeface="Aptos" pitchFamily="34" charset="-120"/>
              </a:rPr>
              <a:t>#D9A233</a:t>
            </a:r>
            <a:endParaRPr lang="en-US" sz="840" dirty="0"/>
          </a:p>
        </p:txBody>
      </p:sp>
      <p:sp>
        <p:nvSpPr>
          <p:cNvPr id="17" name="Shape 14"/>
          <p:cNvSpPr/>
          <p:nvPr/>
        </p:nvSpPr>
        <p:spPr>
          <a:xfrm>
            <a:off x="5989320" y="2331720"/>
            <a:ext cx="1417320" cy="868680"/>
          </a:xfrm>
          <a:prstGeom prst="rect">
            <a:avLst/>
          </a:prstGeom>
          <a:solidFill>
            <a:srgbClr val="F8F2E7"/>
          </a:solidFill>
          <a:ln w="12700">
            <a:solidFill>
              <a:srgbClr val="F8F2E7"/>
            </a:solidFill>
            <a:prstDash val="solid"/>
          </a:ln>
        </p:spPr>
      </p:sp>
      <p:sp>
        <p:nvSpPr>
          <p:cNvPr id="18" name="Text 15"/>
          <p:cNvSpPr/>
          <p:nvPr/>
        </p:nvSpPr>
        <p:spPr>
          <a:xfrm>
            <a:off x="5989320" y="3291840"/>
            <a:ext cx="1417320" cy="201168"/>
          </a:xfrm>
          <a:prstGeom prst="rect">
            <a:avLst/>
          </a:prstGeom>
          <a:noFill/>
          <a:ln/>
        </p:spPr>
        <p:txBody>
          <a:bodyPr wrap="square" lIns="0" tIns="0" rIns="0" bIns="0" rtlCol="0" anchor="ctr">
            <a:normAutofit/>
          </a:bodyPr>
          <a:lstStyle/>
          <a:p>
            <a:pPr indent="0" marL="0">
              <a:buNone/>
            </a:pPr>
            <a:r>
              <a:rPr lang="en-US" sz="920" b="1" dirty="0">
                <a:solidFill>
                  <a:srgbClr val="1B2A28"/>
                </a:solidFill>
                <a:latin typeface="Aptos" pitchFamily="34" charset="0"/>
                <a:ea typeface="Aptos" pitchFamily="34" charset="-122"/>
                <a:cs typeface="Aptos" pitchFamily="34" charset="-120"/>
              </a:rPr>
              <a:t>Warm Cream</a:t>
            </a:r>
            <a:endParaRPr lang="en-US" sz="920" dirty="0"/>
          </a:p>
        </p:txBody>
      </p:sp>
      <p:sp>
        <p:nvSpPr>
          <p:cNvPr id="19" name="Text 16"/>
          <p:cNvSpPr/>
          <p:nvPr/>
        </p:nvSpPr>
        <p:spPr>
          <a:xfrm>
            <a:off x="5989320" y="3511296"/>
            <a:ext cx="1417320" cy="182880"/>
          </a:xfrm>
          <a:prstGeom prst="rect">
            <a:avLst/>
          </a:prstGeom>
          <a:noFill/>
          <a:ln/>
        </p:spPr>
        <p:txBody>
          <a:bodyPr wrap="square" lIns="0" tIns="0" rIns="0" bIns="0" rtlCol="0" anchor="ctr"/>
          <a:lstStyle/>
          <a:p>
            <a:pPr indent="0" marL="0">
              <a:buNone/>
            </a:pPr>
            <a:r>
              <a:rPr lang="en-US" sz="840" dirty="0">
                <a:solidFill>
                  <a:srgbClr val="5E6A63"/>
                </a:solidFill>
                <a:latin typeface="Aptos" pitchFamily="34" charset="0"/>
                <a:ea typeface="Aptos" pitchFamily="34" charset="-122"/>
                <a:cs typeface="Aptos" pitchFamily="34" charset="-120"/>
              </a:rPr>
              <a:t>#F8F2E7</a:t>
            </a:r>
            <a:endParaRPr lang="en-US" sz="840" dirty="0"/>
          </a:p>
        </p:txBody>
      </p:sp>
      <p:sp>
        <p:nvSpPr>
          <p:cNvPr id="20" name="Text 17"/>
          <p:cNvSpPr/>
          <p:nvPr/>
        </p:nvSpPr>
        <p:spPr>
          <a:xfrm>
            <a:off x="640080" y="4160520"/>
            <a:ext cx="2926080" cy="228600"/>
          </a:xfrm>
          <a:prstGeom prst="rect">
            <a:avLst/>
          </a:prstGeom>
          <a:noFill/>
          <a:ln/>
        </p:spPr>
        <p:txBody>
          <a:bodyPr wrap="square" lIns="0" tIns="0" rIns="0" bIns="0" rtlCol="0" anchor="ctr"/>
          <a:lstStyle/>
          <a:p>
            <a:pPr indent="0" marL="0">
              <a:buNone/>
            </a:pPr>
            <a:r>
              <a:rPr lang="en-US" sz="1600" b="1" dirty="0">
                <a:solidFill>
                  <a:srgbClr val="0B4A36"/>
                </a:solidFill>
                <a:latin typeface="Georgia" pitchFamily="34" charset="0"/>
                <a:ea typeface="Georgia" pitchFamily="34" charset="-122"/>
                <a:cs typeface="Georgia" pitchFamily="34" charset="-120"/>
              </a:rPr>
              <a:t>Supporting colours</a:t>
            </a:r>
            <a:endParaRPr lang="en-US" sz="1600" dirty="0"/>
          </a:p>
        </p:txBody>
      </p:sp>
      <p:sp>
        <p:nvSpPr>
          <p:cNvPr id="21" name="Shape 18"/>
          <p:cNvSpPr/>
          <p:nvPr/>
        </p:nvSpPr>
        <p:spPr>
          <a:xfrm>
            <a:off x="640080" y="4645152"/>
            <a:ext cx="1417320" cy="685800"/>
          </a:xfrm>
          <a:prstGeom prst="rect">
            <a:avLst/>
          </a:prstGeom>
          <a:solidFill>
            <a:srgbClr val="DDE9D8"/>
          </a:solidFill>
          <a:ln w="12700">
            <a:solidFill>
              <a:srgbClr val="DDE9D8"/>
            </a:solidFill>
            <a:prstDash val="solid"/>
          </a:ln>
        </p:spPr>
      </p:sp>
      <p:sp>
        <p:nvSpPr>
          <p:cNvPr id="22" name="Text 19"/>
          <p:cNvSpPr/>
          <p:nvPr/>
        </p:nvSpPr>
        <p:spPr>
          <a:xfrm>
            <a:off x="640080" y="5422392"/>
            <a:ext cx="1417320" cy="201168"/>
          </a:xfrm>
          <a:prstGeom prst="rect">
            <a:avLst/>
          </a:prstGeom>
          <a:noFill/>
          <a:ln/>
        </p:spPr>
        <p:txBody>
          <a:bodyPr wrap="square" lIns="0" tIns="0" rIns="0" bIns="0" rtlCol="0" anchor="ctr">
            <a:normAutofit/>
          </a:bodyPr>
          <a:lstStyle/>
          <a:p>
            <a:pPr indent="0" marL="0">
              <a:buNone/>
            </a:pPr>
            <a:r>
              <a:rPr lang="en-US" sz="920" b="1" dirty="0">
                <a:solidFill>
                  <a:srgbClr val="1B2A28"/>
                </a:solidFill>
                <a:latin typeface="Aptos" pitchFamily="34" charset="0"/>
                <a:ea typeface="Aptos" pitchFamily="34" charset="-122"/>
                <a:cs typeface="Aptos" pitchFamily="34" charset="-120"/>
              </a:rPr>
              <a:t>Sage Mist</a:t>
            </a:r>
            <a:endParaRPr lang="en-US" sz="920" dirty="0"/>
          </a:p>
        </p:txBody>
      </p:sp>
      <p:sp>
        <p:nvSpPr>
          <p:cNvPr id="23" name="Text 20"/>
          <p:cNvSpPr/>
          <p:nvPr/>
        </p:nvSpPr>
        <p:spPr>
          <a:xfrm>
            <a:off x="640080" y="5641848"/>
            <a:ext cx="1417320" cy="182880"/>
          </a:xfrm>
          <a:prstGeom prst="rect">
            <a:avLst/>
          </a:prstGeom>
          <a:noFill/>
          <a:ln/>
        </p:spPr>
        <p:txBody>
          <a:bodyPr wrap="square" lIns="0" tIns="0" rIns="0" bIns="0" rtlCol="0" anchor="ctr"/>
          <a:lstStyle/>
          <a:p>
            <a:pPr indent="0" marL="0">
              <a:buNone/>
            </a:pPr>
            <a:r>
              <a:rPr lang="en-US" sz="840" dirty="0">
                <a:solidFill>
                  <a:srgbClr val="5E6A63"/>
                </a:solidFill>
                <a:latin typeface="Aptos" pitchFamily="34" charset="0"/>
                <a:ea typeface="Aptos" pitchFamily="34" charset="-122"/>
                <a:cs typeface="Aptos" pitchFamily="34" charset="-120"/>
              </a:rPr>
              <a:t>#DDE9D8</a:t>
            </a:r>
            <a:endParaRPr lang="en-US" sz="840" dirty="0"/>
          </a:p>
        </p:txBody>
      </p:sp>
      <p:sp>
        <p:nvSpPr>
          <p:cNvPr id="24" name="Shape 21"/>
          <p:cNvSpPr/>
          <p:nvPr/>
        </p:nvSpPr>
        <p:spPr>
          <a:xfrm>
            <a:off x="2423160" y="4645152"/>
            <a:ext cx="1417320" cy="685800"/>
          </a:xfrm>
          <a:prstGeom prst="rect">
            <a:avLst/>
          </a:prstGeom>
          <a:solidFill>
            <a:srgbClr val="6C875A"/>
          </a:solidFill>
          <a:ln w="12700">
            <a:solidFill>
              <a:srgbClr val="6C875A"/>
            </a:solidFill>
            <a:prstDash val="solid"/>
          </a:ln>
        </p:spPr>
      </p:sp>
      <p:sp>
        <p:nvSpPr>
          <p:cNvPr id="25" name="Text 22"/>
          <p:cNvSpPr/>
          <p:nvPr/>
        </p:nvSpPr>
        <p:spPr>
          <a:xfrm>
            <a:off x="2423160" y="5422392"/>
            <a:ext cx="1417320" cy="201168"/>
          </a:xfrm>
          <a:prstGeom prst="rect">
            <a:avLst/>
          </a:prstGeom>
          <a:noFill/>
          <a:ln/>
        </p:spPr>
        <p:txBody>
          <a:bodyPr wrap="square" lIns="0" tIns="0" rIns="0" bIns="0" rtlCol="0" anchor="ctr">
            <a:normAutofit/>
          </a:bodyPr>
          <a:lstStyle/>
          <a:p>
            <a:pPr indent="0" marL="0">
              <a:buNone/>
            </a:pPr>
            <a:r>
              <a:rPr lang="en-US" sz="920" b="1" dirty="0">
                <a:solidFill>
                  <a:srgbClr val="1B2A28"/>
                </a:solidFill>
                <a:latin typeface="Aptos" pitchFamily="34" charset="0"/>
                <a:ea typeface="Aptos" pitchFamily="34" charset="-122"/>
                <a:cs typeface="Aptos" pitchFamily="34" charset="-120"/>
              </a:rPr>
              <a:t>Mountain Moss</a:t>
            </a:r>
            <a:endParaRPr lang="en-US" sz="920" dirty="0"/>
          </a:p>
        </p:txBody>
      </p:sp>
      <p:sp>
        <p:nvSpPr>
          <p:cNvPr id="26" name="Text 23"/>
          <p:cNvSpPr/>
          <p:nvPr/>
        </p:nvSpPr>
        <p:spPr>
          <a:xfrm>
            <a:off x="2423160" y="5641848"/>
            <a:ext cx="1417320" cy="182880"/>
          </a:xfrm>
          <a:prstGeom prst="rect">
            <a:avLst/>
          </a:prstGeom>
          <a:noFill/>
          <a:ln/>
        </p:spPr>
        <p:txBody>
          <a:bodyPr wrap="square" lIns="0" tIns="0" rIns="0" bIns="0" rtlCol="0" anchor="ctr"/>
          <a:lstStyle/>
          <a:p>
            <a:pPr indent="0" marL="0">
              <a:buNone/>
            </a:pPr>
            <a:r>
              <a:rPr lang="en-US" sz="840" dirty="0">
                <a:solidFill>
                  <a:srgbClr val="5E6A63"/>
                </a:solidFill>
                <a:latin typeface="Aptos" pitchFamily="34" charset="0"/>
                <a:ea typeface="Aptos" pitchFamily="34" charset="-122"/>
                <a:cs typeface="Aptos" pitchFamily="34" charset="-120"/>
              </a:rPr>
              <a:t>#6C875A</a:t>
            </a:r>
            <a:endParaRPr lang="en-US" sz="840" dirty="0"/>
          </a:p>
        </p:txBody>
      </p:sp>
      <p:sp>
        <p:nvSpPr>
          <p:cNvPr id="27" name="Shape 24"/>
          <p:cNvSpPr/>
          <p:nvPr/>
        </p:nvSpPr>
        <p:spPr>
          <a:xfrm>
            <a:off x="4206240" y="4645152"/>
            <a:ext cx="1417320" cy="685800"/>
          </a:xfrm>
          <a:prstGeom prst="rect">
            <a:avLst/>
          </a:prstGeom>
          <a:solidFill>
            <a:srgbClr val="1E7A78"/>
          </a:solidFill>
          <a:ln w="12700">
            <a:solidFill>
              <a:srgbClr val="1E7A78"/>
            </a:solidFill>
            <a:prstDash val="solid"/>
          </a:ln>
        </p:spPr>
      </p:sp>
      <p:sp>
        <p:nvSpPr>
          <p:cNvPr id="28" name="Text 25"/>
          <p:cNvSpPr/>
          <p:nvPr/>
        </p:nvSpPr>
        <p:spPr>
          <a:xfrm>
            <a:off x="4206240" y="5422392"/>
            <a:ext cx="1417320" cy="201168"/>
          </a:xfrm>
          <a:prstGeom prst="rect">
            <a:avLst/>
          </a:prstGeom>
          <a:noFill/>
          <a:ln/>
        </p:spPr>
        <p:txBody>
          <a:bodyPr wrap="square" lIns="0" tIns="0" rIns="0" bIns="0" rtlCol="0" anchor="ctr">
            <a:normAutofit/>
          </a:bodyPr>
          <a:lstStyle/>
          <a:p>
            <a:pPr indent="0" marL="0">
              <a:buNone/>
            </a:pPr>
            <a:r>
              <a:rPr lang="en-US" sz="920" b="1" dirty="0">
                <a:solidFill>
                  <a:srgbClr val="1B2A28"/>
                </a:solidFill>
                <a:latin typeface="Aptos" pitchFamily="34" charset="0"/>
                <a:ea typeface="Aptos" pitchFamily="34" charset="-122"/>
                <a:cs typeface="Aptos" pitchFamily="34" charset="-120"/>
              </a:rPr>
              <a:t>River Teal</a:t>
            </a:r>
            <a:endParaRPr lang="en-US" sz="920" dirty="0"/>
          </a:p>
        </p:txBody>
      </p:sp>
      <p:sp>
        <p:nvSpPr>
          <p:cNvPr id="29" name="Text 26"/>
          <p:cNvSpPr/>
          <p:nvPr/>
        </p:nvSpPr>
        <p:spPr>
          <a:xfrm>
            <a:off x="4206240" y="5641848"/>
            <a:ext cx="1417320" cy="182880"/>
          </a:xfrm>
          <a:prstGeom prst="rect">
            <a:avLst/>
          </a:prstGeom>
          <a:noFill/>
          <a:ln/>
        </p:spPr>
        <p:txBody>
          <a:bodyPr wrap="square" lIns="0" tIns="0" rIns="0" bIns="0" rtlCol="0" anchor="ctr"/>
          <a:lstStyle/>
          <a:p>
            <a:pPr indent="0" marL="0">
              <a:buNone/>
            </a:pPr>
            <a:r>
              <a:rPr lang="en-US" sz="840" dirty="0">
                <a:solidFill>
                  <a:srgbClr val="5E6A63"/>
                </a:solidFill>
                <a:latin typeface="Aptos" pitchFamily="34" charset="0"/>
                <a:ea typeface="Aptos" pitchFamily="34" charset="-122"/>
                <a:cs typeface="Aptos" pitchFamily="34" charset="-120"/>
              </a:rPr>
              <a:t>#1E7A78</a:t>
            </a:r>
            <a:endParaRPr lang="en-US" sz="840" dirty="0"/>
          </a:p>
        </p:txBody>
      </p:sp>
      <p:sp>
        <p:nvSpPr>
          <p:cNvPr id="30" name="Shape 27"/>
          <p:cNvSpPr/>
          <p:nvPr/>
        </p:nvSpPr>
        <p:spPr>
          <a:xfrm>
            <a:off x="5989320" y="4645152"/>
            <a:ext cx="1417320" cy="685800"/>
          </a:xfrm>
          <a:prstGeom prst="rect">
            <a:avLst/>
          </a:prstGeom>
          <a:solidFill>
            <a:srgbClr val="B77938"/>
          </a:solidFill>
          <a:ln w="12700">
            <a:solidFill>
              <a:srgbClr val="B77938"/>
            </a:solidFill>
            <a:prstDash val="solid"/>
          </a:ln>
        </p:spPr>
      </p:sp>
      <p:sp>
        <p:nvSpPr>
          <p:cNvPr id="31" name="Text 28"/>
          <p:cNvSpPr/>
          <p:nvPr/>
        </p:nvSpPr>
        <p:spPr>
          <a:xfrm>
            <a:off x="5989320" y="5422392"/>
            <a:ext cx="1417320" cy="201168"/>
          </a:xfrm>
          <a:prstGeom prst="rect">
            <a:avLst/>
          </a:prstGeom>
          <a:noFill/>
          <a:ln/>
        </p:spPr>
        <p:txBody>
          <a:bodyPr wrap="square" lIns="0" tIns="0" rIns="0" bIns="0" rtlCol="0" anchor="ctr">
            <a:normAutofit/>
          </a:bodyPr>
          <a:lstStyle/>
          <a:p>
            <a:pPr indent="0" marL="0">
              <a:buNone/>
            </a:pPr>
            <a:r>
              <a:rPr lang="en-US" sz="920" b="1" dirty="0">
                <a:solidFill>
                  <a:srgbClr val="1B2A28"/>
                </a:solidFill>
                <a:latin typeface="Aptos" pitchFamily="34" charset="0"/>
                <a:ea typeface="Aptos" pitchFamily="34" charset="-122"/>
                <a:cs typeface="Aptos" pitchFamily="34" charset="-120"/>
              </a:rPr>
              <a:t>Earth Clay</a:t>
            </a:r>
            <a:endParaRPr lang="en-US" sz="920" dirty="0"/>
          </a:p>
        </p:txBody>
      </p:sp>
      <p:sp>
        <p:nvSpPr>
          <p:cNvPr id="32" name="Text 29"/>
          <p:cNvSpPr/>
          <p:nvPr/>
        </p:nvSpPr>
        <p:spPr>
          <a:xfrm>
            <a:off x="5989320" y="5641848"/>
            <a:ext cx="1417320" cy="182880"/>
          </a:xfrm>
          <a:prstGeom prst="rect">
            <a:avLst/>
          </a:prstGeom>
          <a:noFill/>
          <a:ln/>
        </p:spPr>
        <p:txBody>
          <a:bodyPr wrap="square" lIns="0" tIns="0" rIns="0" bIns="0" rtlCol="0" anchor="ctr"/>
          <a:lstStyle/>
          <a:p>
            <a:pPr indent="0" marL="0">
              <a:buNone/>
            </a:pPr>
            <a:r>
              <a:rPr lang="en-US" sz="840" dirty="0">
                <a:solidFill>
                  <a:srgbClr val="5E6A63"/>
                </a:solidFill>
                <a:latin typeface="Aptos" pitchFamily="34" charset="0"/>
                <a:ea typeface="Aptos" pitchFamily="34" charset="-122"/>
                <a:cs typeface="Aptos" pitchFamily="34" charset="-120"/>
              </a:rPr>
              <a:t>#B77938</a:t>
            </a:r>
            <a:endParaRPr lang="en-US" sz="840" dirty="0"/>
          </a:p>
        </p:txBody>
      </p:sp>
      <p:sp>
        <p:nvSpPr>
          <p:cNvPr id="33" name="Shape 30"/>
          <p:cNvSpPr/>
          <p:nvPr/>
        </p:nvSpPr>
        <p:spPr>
          <a:xfrm>
            <a:off x="7772400" y="4645152"/>
            <a:ext cx="1417320" cy="685800"/>
          </a:xfrm>
          <a:prstGeom prst="rect">
            <a:avLst/>
          </a:prstGeom>
          <a:solidFill>
            <a:srgbClr val="5B3B7A"/>
          </a:solidFill>
          <a:ln w="12700">
            <a:solidFill>
              <a:srgbClr val="5B3B7A"/>
            </a:solidFill>
            <a:prstDash val="solid"/>
          </a:ln>
        </p:spPr>
      </p:sp>
      <p:sp>
        <p:nvSpPr>
          <p:cNvPr id="34" name="Text 31"/>
          <p:cNvSpPr/>
          <p:nvPr/>
        </p:nvSpPr>
        <p:spPr>
          <a:xfrm>
            <a:off x="7772400" y="5422392"/>
            <a:ext cx="1417320" cy="201168"/>
          </a:xfrm>
          <a:prstGeom prst="rect">
            <a:avLst/>
          </a:prstGeom>
          <a:noFill/>
          <a:ln/>
        </p:spPr>
        <p:txBody>
          <a:bodyPr wrap="square" lIns="0" tIns="0" rIns="0" bIns="0" rtlCol="0" anchor="ctr">
            <a:normAutofit/>
          </a:bodyPr>
          <a:lstStyle/>
          <a:p>
            <a:pPr indent="0" marL="0">
              <a:buNone/>
            </a:pPr>
            <a:r>
              <a:rPr lang="en-US" sz="920" b="1" dirty="0">
                <a:solidFill>
                  <a:srgbClr val="1B2A28"/>
                </a:solidFill>
                <a:latin typeface="Aptos" pitchFamily="34" charset="0"/>
                <a:ea typeface="Aptos" pitchFamily="34" charset="-122"/>
                <a:cs typeface="Aptos" pitchFamily="34" charset="-120"/>
              </a:rPr>
              <a:t>Wisdom Violet</a:t>
            </a:r>
            <a:endParaRPr lang="en-US" sz="920" dirty="0"/>
          </a:p>
        </p:txBody>
      </p:sp>
      <p:sp>
        <p:nvSpPr>
          <p:cNvPr id="35" name="Text 32"/>
          <p:cNvSpPr/>
          <p:nvPr/>
        </p:nvSpPr>
        <p:spPr>
          <a:xfrm>
            <a:off x="7772400" y="5641848"/>
            <a:ext cx="1417320" cy="182880"/>
          </a:xfrm>
          <a:prstGeom prst="rect">
            <a:avLst/>
          </a:prstGeom>
          <a:noFill/>
          <a:ln/>
        </p:spPr>
        <p:txBody>
          <a:bodyPr wrap="square" lIns="0" tIns="0" rIns="0" bIns="0" rtlCol="0" anchor="ctr"/>
          <a:lstStyle/>
          <a:p>
            <a:pPr indent="0" marL="0">
              <a:buNone/>
            </a:pPr>
            <a:r>
              <a:rPr lang="en-US" sz="840" dirty="0">
                <a:solidFill>
                  <a:srgbClr val="5E6A63"/>
                </a:solidFill>
                <a:latin typeface="Aptos" pitchFamily="34" charset="0"/>
                <a:ea typeface="Aptos" pitchFamily="34" charset="-122"/>
                <a:cs typeface="Aptos" pitchFamily="34" charset="-120"/>
              </a:rPr>
              <a:t>#5B3B7A</a:t>
            </a:r>
            <a:endParaRPr lang="en-US" sz="840" dirty="0"/>
          </a:p>
        </p:txBody>
      </p:sp>
      <p:sp>
        <p:nvSpPr>
          <p:cNvPr id="36" name="Text 33"/>
          <p:cNvSpPr/>
          <p:nvPr/>
        </p:nvSpPr>
        <p:spPr>
          <a:xfrm>
            <a:off x="8549640" y="2011680"/>
            <a:ext cx="2834640" cy="292608"/>
          </a:xfrm>
          <a:prstGeom prst="rect">
            <a:avLst/>
          </a:prstGeom>
          <a:noFill/>
          <a:ln/>
        </p:spPr>
        <p:txBody>
          <a:bodyPr wrap="square" lIns="0" tIns="0" rIns="0" bIns="0" rtlCol="0" anchor="ctr"/>
          <a:lstStyle/>
          <a:p>
            <a:pPr indent="0" marL="0">
              <a:buNone/>
            </a:pPr>
            <a:r>
              <a:rPr lang="en-US" sz="1500" b="1" dirty="0">
                <a:solidFill>
                  <a:srgbClr val="0B4A36"/>
                </a:solidFill>
                <a:latin typeface="Georgia" pitchFamily="34" charset="0"/>
                <a:ea typeface="Georgia" pitchFamily="34" charset="-122"/>
                <a:cs typeface="Georgia" pitchFamily="34" charset="-120"/>
              </a:rPr>
              <a:t>How to balance it</a:t>
            </a:r>
            <a:endParaRPr lang="en-US" sz="1500" dirty="0"/>
          </a:p>
        </p:txBody>
      </p:sp>
      <p:sp>
        <p:nvSpPr>
          <p:cNvPr id="37" name="Text 34"/>
          <p:cNvSpPr/>
          <p:nvPr/>
        </p:nvSpPr>
        <p:spPr>
          <a:xfrm>
            <a:off x="8549640" y="2395728"/>
            <a:ext cx="2834640" cy="1399032"/>
          </a:xfrm>
          <a:prstGeom prst="rect">
            <a:avLst/>
          </a:prstGeom>
          <a:noFill/>
          <a:ln/>
        </p:spPr>
        <p:txBody>
          <a:bodyPr wrap="square" lIns="381" tIns="381" rIns="381" bIns="381" rtlCol="0" anchor="t">
            <a:normAutofit/>
          </a:bodyPr>
          <a:lstStyle/>
          <a:p>
            <a:pPr indent="0" marL="0">
              <a:buNone/>
            </a:pPr>
            <a:r>
              <a:rPr lang="en-US" sz="1060" dirty="0">
                <a:solidFill>
                  <a:srgbClr val="1B2A28"/>
                </a:solidFill>
                <a:latin typeface="Aptos" pitchFamily="34" charset="0"/>
                <a:ea typeface="Aptos" pitchFamily="34" charset="-122"/>
                <a:cs typeface="Aptos" pitchFamily="34" charset="-120"/>
              </a:rPr>
              <a:t>Use cream and mist as the spacious base. Use forest green for trust and structure. Use navy for sacred moments, hero areas, and premium depth. Use gold sparingly as the blessing, highlight, rule line, or call to action.</a:t>
            </a:r>
            <a:endParaRPr lang="en-US" sz="1060" dirty="0"/>
          </a:p>
        </p:txBody>
      </p:sp>
      <p:sp>
        <p:nvSpPr>
          <p:cNvPr id="38" name="Text 35"/>
          <p:cNvSpPr/>
          <p:nvPr/>
        </p:nvSpPr>
        <p:spPr>
          <a:xfrm>
            <a:off x="502920" y="6510528"/>
            <a:ext cx="5029200" cy="164592"/>
          </a:xfrm>
          <a:prstGeom prst="rect">
            <a:avLst/>
          </a:prstGeom>
          <a:noFill/>
          <a:ln/>
        </p:spPr>
        <p:txBody>
          <a:bodyPr wrap="square" lIns="0" tIns="0" rIns="0" bIns="0" rtlCol="0" anchor="ctr"/>
          <a:lstStyle/>
          <a:p>
            <a:pPr indent="0" marL="0">
              <a:buNone/>
            </a:pPr>
            <a:r>
              <a:rPr lang="en-US" sz="750" dirty="0">
                <a:solidFill>
                  <a:srgbClr val="7C8680"/>
                </a:solidFill>
                <a:latin typeface="Aptos" pitchFamily="34" charset="0"/>
                <a:ea typeface="Aptos" pitchFamily="34" charset="-122"/>
                <a:cs typeface="Aptos" pitchFamily="34" charset="-120"/>
              </a:rPr>
              <a:t>SpiritualRetreats.network  |  Brand Portfolio</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7EE"/>
        </a:solidFill>
      </p:bgPr>
    </p:bg>
    <p:spTree>
      <p:nvGrpSpPr>
        <p:cNvPr id="1" name=""/>
        <p:cNvGrpSpPr/>
        <p:nvPr/>
      </p:nvGrpSpPr>
      <p:grpSpPr>
        <a:xfrm>
          <a:off x="0" y="0"/>
          <a:ext cx="0" cy="0"/>
          <a:chOff x="0" y="0"/>
          <a:chExt cx="0" cy="0"/>
        </a:xfrm>
      </p:grpSpPr>
      <p:sp>
        <p:nvSpPr>
          <p:cNvPr id="2" name="Text 0"/>
          <p:cNvSpPr/>
          <p:nvPr/>
        </p:nvSpPr>
        <p:spPr>
          <a:xfrm>
            <a:off x="502920" y="320040"/>
            <a:ext cx="1005840" cy="320040"/>
          </a:xfrm>
          <a:prstGeom prst="rect">
            <a:avLst/>
          </a:prstGeom>
          <a:noFill/>
          <a:ln/>
        </p:spPr>
        <p:txBody>
          <a:bodyPr wrap="square" lIns="0" tIns="0" rIns="0" bIns="0" rtlCol="0" anchor="ctr"/>
          <a:lstStyle/>
          <a:p>
            <a:pPr indent="0" marL="0">
              <a:buNone/>
            </a:pPr>
            <a:r>
              <a:rPr lang="en-US" sz="1200" b="1" dirty="0">
                <a:solidFill>
                  <a:srgbClr val="D9A233"/>
                </a:solidFill>
                <a:latin typeface="Aptos" pitchFamily="34" charset="0"/>
                <a:ea typeface="Aptos" pitchFamily="34" charset="-122"/>
                <a:cs typeface="Aptos" pitchFamily="34" charset="-120"/>
              </a:rPr>
              <a:t>05</a:t>
            </a:r>
            <a:endParaRPr lang="en-US" sz="1200" dirty="0"/>
          </a:p>
        </p:txBody>
      </p:sp>
      <p:sp>
        <p:nvSpPr>
          <p:cNvPr id="3" name="Text 1"/>
          <p:cNvSpPr/>
          <p:nvPr/>
        </p:nvSpPr>
        <p:spPr>
          <a:xfrm>
            <a:off x="502920" y="658368"/>
            <a:ext cx="8046720" cy="502920"/>
          </a:xfrm>
          <a:prstGeom prst="rect">
            <a:avLst/>
          </a:prstGeom>
          <a:noFill/>
          <a:ln/>
        </p:spPr>
        <p:txBody>
          <a:bodyPr wrap="square" lIns="0" tIns="0" rIns="0" bIns="0" rtlCol="0" anchor="ctr"/>
          <a:lstStyle/>
          <a:p>
            <a:pPr indent="0" marL="0">
              <a:buNone/>
            </a:pPr>
            <a:r>
              <a:rPr lang="en-US" sz="2800" b="1" dirty="0">
                <a:solidFill>
                  <a:srgbClr val="0B4A36"/>
                </a:solidFill>
                <a:latin typeface="Georgia" pitchFamily="34" charset="0"/>
                <a:ea typeface="Georgia" pitchFamily="34" charset="-122"/>
                <a:cs typeface="Georgia" pitchFamily="34" charset="-120"/>
              </a:rPr>
              <a:t>Typography</a:t>
            </a:r>
            <a:endParaRPr lang="en-US" sz="2800" dirty="0"/>
          </a:p>
        </p:txBody>
      </p:sp>
      <p:sp>
        <p:nvSpPr>
          <p:cNvPr id="4" name="Text 2"/>
          <p:cNvSpPr/>
          <p:nvPr/>
        </p:nvSpPr>
        <p:spPr>
          <a:xfrm>
            <a:off x="502920" y="1170432"/>
            <a:ext cx="8778240" cy="301752"/>
          </a:xfrm>
          <a:prstGeom prst="rect">
            <a:avLst/>
          </a:prstGeom>
          <a:noFill/>
          <a:ln/>
        </p:spPr>
        <p:txBody>
          <a:bodyPr wrap="square" lIns="0" tIns="0" rIns="0" bIns="0" rtlCol="0" anchor="ctr"/>
          <a:lstStyle/>
          <a:p>
            <a:pPr indent="0" marL="0">
              <a:buNone/>
            </a:pPr>
            <a:r>
              <a:rPr lang="en-US" sz="1250" dirty="0">
                <a:solidFill>
                  <a:srgbClr val="B77938"/>
                </a:solidFill>
                <a:latin typeface="Aptos" pitchFamily="34" charset="0"/>
                <a:ea typeface="Aptos" pitchFamily="34" charset="-122"/>
                <a:cs typeface="Aptos" pitchFamily="34" charset="-120"/>
              </a:rPr>
              <a:t>Elegant, readable, and premium - spiritual without becoming decorative or hard to read.</a:t>
            </a:r>
            <a:endParaRPr lang="en-US" sz="1250" dirty="0"/>
          </a:p>
        </p:txBody>
      </p:sp>
      <p:sp>
        <p:nvSpPr>
          <p:cNvPr id="5" name="Shape 3"/>
          <p:cNvSpPr/>
          <p:nvPr/>
        </p:nvSpPr>
        <p:spPr>
          <a:xfrm>
            <a:off x="502920" y="1581912"/>
            <a:ext cx="1920240" cy="0"/>
          </a:xfrm>
          <a:prstGeom prst="line">
            <a:avLst/>
          </a:prstGeom>
          <a:noFill/>
          <a:ln w="15240">
            <a:solidFill>
              <a:srgbClr val="D9A233"/>
            </a:solidFill>
            <a:prstDash val="solid"/>
          </a:ln>
        </p:spPr>
      </p:sp>
      <p:pic>
        <p:nvPicPr>
          <p:cNvPr id="6" name="Image 0" descr="/mnt/data/SpiritualRetreats_assets/logo_mark_geometry_lotus.png">    </p:cNvPr>
          <p:cNvPicPr>
            <a:picLocks noChangeAspect="1"/>
          </p:cNvPicPr>
          <p:nvPr/>
        </p:nvPicPr>
        <p:blipFill>
          <a:blip r:embed="rId1"/>
          <a:srcRect l="0" r="0" t="9774" b="9774"/>
          <a:stretch/>
        </p:blipFill>
        <p:spPr>
          <a:xfrm>
            <a:off x="10789920" y="228600"/>
            <a:ext cx="777240" cy="777240"/>
          </a:xfrm>
          <a:prstGeom prst="rect">
            <a:avLst/>
          </a:prstGeom>
        </p:spPr>
      </p:pic>
      <p:sp>
        <p:nvSpPr>
          <p:cNvPr id="7" name="Text 4"/>
          <p:cNvSpPr/>
          <p:nvPr/>
        </p:nvSpPr>
        <p:spPr>
          <a:xfrm>
            <a:off x="685800" y="1874520"/>
            <a:ext cx="3200400" cy="274320"/>
          </a:xfrm>
          <a:prstGeom prst="rect">
            <a:avLst/>
          </a:prstGeom>
          <a:noFill/>
          <a:ln/>
        </p:spPr>
        <p:txBody>
          <a:bodyPr wrap="square" lIns="0" tIns="0" rIns="0" bIns="0" rtlCol="0" anchor="ctr"/>
          <a:lstStyle/>
          <a:p>
            <a:pPr indent="0" marL="0">
              <a:buNone/>
            </a:pPr>
            <a:r>
              <a:rPr lang="en-US" sz="1100" b="1" dirty="0">
                <a:solidFill>
                  <a:srgbClr val="D9A233"/>
                </a:solidFill>
                <a:latin typeface="Aptos" pitchFamily="34" charset="0"/>
                <a:ea typeface="Aptos" pitchFamily="34" charset="-122"/>
                <a:cs typeface="Aptos" pitchFamily="34" charset="-120"/>
              </a:rPr>
              <a:t>Display Serif</a:t>
            </a:r>
            <a:endParaRPr lang="en-US" sz="1100" dirty="0"/>
          </a:p>
        </p:txBody>
      </p:sp>
      <p:sp>
        <p:nvSpPr>
          <p:cNvPr id="8" name="Text 5"/>
          <p:cNvSpPr/>
          <p:nvPr/>
        </p:nvSpPr>
        <p:spPr>
          <a:xfrm>
            <a:off x="685800" y="2286000"/>
            <a:ext cx="5029200" cy="502920"/>
          </a:xfrm>
          <a:prstGeom prst="rect">
            <a:avLst/>
          </a:prstGeom>
          <a:noFill/>
          <a:ln/>
        </p:spPr>
        <p:txBody>
          <a:bodyPr wrap="square" lIns="0" tIns="0" rIns="0" bIns="0" rtlCol="0" anchor="ctr"/>
          <a:lstStyle/>
          <a:p>
            <a:pPr indent="0" marL="0">
              <a:buNone/>
            </a:pPr>
            <a:r>
              <a:rPr lang="en-US" sz="2500" b="1" dirty="0">
                <a:solidFill>
                  <a:srgbClr val="0B4A36"/>
                </a:solidFill>
                <a:latin typeface="Georgia" pitchFamily="34" charset="0"/>
                <a:ea typeface="Georgia" pitchFamily="34" charset="-122"/>
                <a:cs typeface="Georgia" pitchFamily="34" charset="-120"/>
              </a:rPr>
              <a:t>Cormorant Garamond / Georgia</a:t>
            </a:r>
            <a:endParaRPr lang="en-US" sz="2500" dirty="0"/>
          </a:p>
        </p:txBody>
      </p:sp>
      <p:sp>
        <p:nvSpPr>
          <p:cNvPr id="9" name="Text 6"/>
          <p:cNvSpPr/>
          <p:nvPr/>
        </p:nvSpPr>
        <p:spPr>
          <a:xfrm>
            <a:off x="731520" y="2971800"/>
            <a:ext cx="4480560" cy="457200"/>
          </a:xfrm>
          <a:prstGeom prst="rect">
            <a:avLst/>
          </a:prstGeom>
          <a:noFill/>
          <a:ln/>
        </p:spPr>
        <p:txBody>
          <a:bodyPr wrap="square" lIns="0" tIns="0" rIns="0" bIns="0" rtlCol="0" anchor="ctr"/>
          <a:lstStyle/>
          <a:p>
            <a:pPr indent="0" marL="0">
              <a:buNone/>
            </a:pPr>
            <a:r>
              <a:rPr lang="en-US" sz="1100" dirty="0">
                <a:solidFill>
                  <a:srgbClr val="1B2A28"/>
                </a:solidFill>
                <a:latin typeface="Aptos" pitchFamily="34" charset="0"/>
                <a:ea typeface="Aptos" pitchFamily="34" charset="-122"/>
                <a:cs typeface="Aptos" pitchFamily="34" charset="-120"/>
              </a:rPr>
              <a:t>Use for the brand name, large headings, sacred statements, and premium editorial moments.</a:t>
            </a:r>
            <a:endParaRPr lang="en-US" sz="1100" dirty="0"/>
          </a:p>
        </p:txBody>
      </p:sp>
      <p:sp>
        <p:nvSpPr>
          <p:cNvPr id="10" name="Text 7"/>
          <p:cNvSpPr/>
          <p:nvPr/>
        </p:nvSpPr>
        <p:spPr>
          <a:xfrm>
            <a:off x="6309360" y="1874520"/>
            <a:ext cx="3200400" cy="274320"/>
          </a:xfrm>
          <a:prstGeom prst="rect">
            <a:avLst/>
          </a:prstGeom>
          <a:noFill/>
          <a:ln/>
        </p:spPr>
        <p:txBody>
          <a:bodyPr wrap="square" lIns="0" tIns="0" rIns="0" bIns="0" rtlCol="0" anchor="ctr"/>
          <a:lstStyle/>
          <a:p>
            <a:pPr indent="0" marL="0">
              <a:buNone/>
            </a:pPr>
            <a:r>
              <a:rPr lang="en-US" sz="1100" b="1" dirty="0">
                <a:solidFill>
                  <a:srgbClr val="D9A233"/>
                </a:solidFill>
                <a:latin typeface="Aptos" pitchFamily="34" charset="0"/>
                <a:ea typeface="Aptos" pitchFamily="34" charset="-122"/>
                <a:cs typeface="Aptos" pitchFamily="34" charset="-120"/>
              </a:rPr>
              <a:t>Body Sans</a:t>
            </a:r>
            <a:endParaRPr lang="en-US" sz="1100" dirty="0"/>
          </a:p>
        </p:txBody>
      </p:sp>
      <p:sp>
        <p:nvSpPr>
          <p:cNvPr id="11" name="Text 8"/>
          <p:cNvSpPr/>
          <p:nvPr/>
        </p:nvSpPr>
        <p:spPr>
          <a:xfrm>
            <a:off x="6309360" y="2331720"/>
            <a:ext cx="4297680" cy="457200"/>
          </a:xfrm>
          <a:prstGeom prst="rect">
            <a:avLst/>
          </a:prstGeom>
          <a:noFill/>
          <a:ln/>
        </p:spPr>
        <p:txBody>
          <a:bodyPr wrap="square" lIns="0" tIns="0" rIns="0" bIns="0" rtlCol="0" anchor="ctr"/>
          <a:lstStyle/>
          <a:p>
            <a:pPr indent="0" marL="0">
              <a:buNone/>
            </a:pPr>
            <a:r>
              <a:rPr lang="en-US" sz="2500" b="1" dirty="0">
                <a:solidFill>
                  <a:srgbClr val="0B4A36"/>
                </a:solidFill>
                <a:latin typeface="Aptos" pitchFamily="34" charset="0"/>
                <a:ea typeface="Aptos" pitchFamily="34" charset="-122"/>
                <a:cs typeface="Aptos" pitchFamily="34" charset="-120"/>
              </a:rPr>
              <a:t>Inter / Aptos</a:t>
            </a:r>
            <a:endParaRPr lang="en-US" sz="2500" dirty="0"/>
          </a:p>
        </p:txBody>
      </p:sp>
      <p:sp>
        <p:nvSpPr>
          <p:cNvPr id="12" name="Text 9"/>
          <p:cNvSpPr/>
          <p:nvPr/>
        </p:nvSpPr>
        <p:spPr>
          <a:xfrm>
            <a:off x="6355080" y="2971800"/>
            <a:ext cx="4480560" cy="457200"/>
          </a:xfrm>
          <a:prstGeom prst="rect">
            <a:avLst/>
          </a:prstGeom>
          <a:noFill/>
          <a:ln/>
        </p:spPr>
        <p:txBody>
          <a:bodyPr wrap="square" lIns="0" tIns="0" rIns="0" bIns="0" rtlCol="0" anchor="ctr"/>
          <a:lstStyle/>
          <a:p>
            <a:pPr indent="0" marL="0">
              <a:buNone/>
            </a:pPr>
            <a:r>
              <a:rPr lang="en-US" sz="1100" dirty="0">
                <a:solidFill>
                  <a:srgbClr val="1B2A28"/>
                </a:solidFill>
                <a:latin typeface="Aptos" pitchFamily="34" charset="0"/>
                <a:ea typeface="Aptos" pitchFamily="34" charset="-122"/>
                <a:cs typeface="Aptos" pitchFamily="34" charset="-120"/>
              </a:rPr>
              <a:t>Use for body copy, explanations, navigation, forms, profile content, and practical platform instructions.</a:t>
            </a:r>
            <a:endParaRPr lang="en-US" sz="1100" dirty="0"/>
          </a:p>
        </p:txBody>
      </p:sp>
      <p:sp>
        <p:nvSpPr>
          <p:cNvPr id="13" name="Text 10"/>
          <p:cNvSpPr/>
          <p:nvPr/>
        </p:nvSpPr>
        <p:spPr>
          <a:xfrm>
            <a:off x="685800" y="4206240"/>
            <a:ext cx="3200400" cy="274320"/>
          </a:xfrm>
          <a:prstGeom prst="rect">
            <a:avLst/>
          </a:prstGeom>
          <a:noFill/>
          <a:ln/>
        </p:spPr>
        <p:txBody>
          <a:bodyPr wrap="square" lIns="0" tIns="0" rIns="0" bIns="0" rtlCol="0" anchor="ctr"/>
          <a:lstStyle/>
          <a:p>
            <a:pPr indent="0" marL="0">
              <a:buNone/>
            </a:pPr>
            <a:r>
              <a:rPr lang="en-US" sz="1600" b="1" dirty="0">
                <a:solidFill>
                  <a:srgbClr val="0B4A36"/>
                </a:solidFill>
                <a:latin typeface="Georgia" pitchFamily="34" charset="0"/>
                <a:ea typeface="Georgia" pitchFamily="34" charset="-122"/>
                <a:cs typeface="Georgia" pitchFamily="34" charset="-120"/>
              </a:rPr>
              <a:t>Hierarchy example</a:t>
            </a:r>
            <a:endParaRPr lang="en-US" sz="1600" dirty="0"/>
          </a:p>
        </p:txBody>
      </p:sp>
      <p:sp>
        <p:nvSpPr>
          <p:cNvPr id="14" name="Text 11"/>
          <p:cNvSpPr/>
          <p:nvPr/>
        </p:nvSpPr>
        <p:spPr>
          <a:xfrm>
            <a:off x="685800" y="4617720"/>
            <a:ext cx="6858000" cy="411480"/>
          </a:xfrm>
          <a:prstGeom prst="rect">
            <a:avLst/>
          </a:prstGeom>
          <a:noFill/>
          <a:ln/>
        </p:spPr>
        <p:txBody>
          <a:bodyPr wrap="square" lIns="0" tIns="0" rIns="0" bIns="0" rtlCol="0" anchor="ctr"/>
          <a:lstStyle/>
          <a:p>
            <a:pPr indent="0" marL="0">
              <a:buNone/>
            </a:pPr>
            <a:r>
              <a:rPr lang="en-US" sz="2200" b="1" dirty="0">
                <a:solidFill>
                  <a:srgbClr val="0B4A36"/>
                </a:solidFill>
                <a:latin typeface="Georgia" pitchFamily="34" charset="0"/>
                <a:ea typeface="Georgia" pitchFamily="34" charset="-122"/>
                <a:cs typeface="Georgia" pitchFamily="34" charset="-120"/>
              </a:rPr>
              <a:t>The Home of the Global Spiritual Retreat Industry</a:t>
            </a:r>
            <a:endParaRPr lang="en-US" sz="2200" dirty="0"/>
          </a:p>
        </p:txBody>
      </p:sp>
      <p:sp>
        <p:nvSpPr>
          <p:cNvPr id="15" name="Text 12"/>
          <p:cNvSpPr/>
          <p:nvPr/>
        </p:nvSpPr>
        <p:spPr>
          <a:xfrm>
            <a:off x="685800" y="5138928"/>
            <a:ext cx="5303520" cy="228600"/>
          </a:xfrm>
          <a:prstGeom prst="rect">
            <a:avLst/>
          </a:prstGeom>
          <a:noFill/>
          <a:ln/>
        </p:spPr>
        <p:txBody>
          <a:bodyPr wrap="square" lIns="0" tIns="0" rIns="0" bIns="0" rtlCol="0" anchor="ctr"/>
          <a:lstStyle/>
          <a:p>
            <a:pPr indent="0" marL="0">
              <a:buNone/>
            </a:pPr>
            <a:r>
              <a:rPr lang="en-US" sz="1250" b="1" dirty="0">
                <a:solidFill>
                  <a:srgbClr val="B77938"/>
                </a:solidFill>
                <a:latin typeface="Aptos" pitchFamily="34" charset="0"/>
                <a:ea typeface="Aptos" pitchFamily="34" charset="-122"/>
                <a:cs typeface="Aptos" pitchFamily="34" charset="-120"/>
              </a:rPr>
              <a:t>One platform. Four pillars. Unlimited possibilities.</a:t>
            </a:r>
            <a:endParaRPr lang="en-US" sz="1250" dirty="0"/>
          </a:p>
        </p:txBody>
      </p:sp>
      <p:sp>
        <p:nvSpPr>
          <p:cNvPr id="16" name="Text 13"/>
          <p:cNvSpPr/>
          <p:nvPr/>
        </p:nvSpPr>
        <p:spPr>
          <a:xfrm>
            <a:off x="685800" y="5532120"/>
            <a:ext cx="6675120" cy="320040"/>
          </a:xfrm>
          <a:prstGeom prst="rect">
            <a:avLst/>
          </a:prstGeom>
          <a:noFill/>
          <a:ln/>
        </p:spPr>
        <p:txBody>
          <a:bodyPr wrap="square" lIns="0" tIns="0" rIns="0" bIns="0" rtlCol="0" anchor="ctr"/>
          <a:lstStyle/>
          <a:p>
            <a:pPr indent="0" marL="0">
              <a:buNone/>
            </a:pPr>
            <a:r>
              <a:rPr lang="en-US" sz="1150" dirty="0">
                <a:solidFill>
                  <a:srgbClr val="1B2A28"/>
                </a:solidFill>
                <a:latin typeface="Aptos" pitchFamily="34" charset="0"/>
                <a:ea typeface="Aptos" pitchFamily="34" charset="-122"/>
                <a:cs typeface="Aptos" pitchFamily="34" charset="-120"/>
              </a:rPr>
              <a:t>Connecting seekers, leaders, facilitators and venues to grow the retreat community together.</a:t>
            </a:r>
            <a:endParaRPr lang="en-US" sz="1150" dirty="0"/>
          </a:p>
        </p:txBody>
      </p:sp>
      <p:pic>
        <p:nvPicPr>
          <p:cNvPr id="17" name="Image 1" descr="/mnt/data/SpiritualRetreats_assets/logo_mark_geometry_lotus.png">    </p:cNvPr>
          <p:cNvPicPr>
            <a:picLocks noChangeAspect="1"/>
          </p:cNvPicPr>
          <p:nvPr/>
        </p:nvPicPr>
        <p:blipFill>
          <a:blip r:embed="rId2"/>
          <a:srcRect l="0" r="0" t="9774" b="9774"/>
          <a:stretch/>
        </p:blipFill>
        <p:spPr>
          <a:xfrm>
            <a:off x="9601200" y="4343400"/>
            <a:ext cx="1417320" cy="1417320"/>
          </a:xfrm>
          <a:prstGeom prst="rect">
            <a:avLst/>
          </a:prstGeom>
        </p:spPr>
      </p:pic>
      <p:sp>
        <p:nvSpPr>
          <p:cNvPr id="18" name="Text 14"/>
          <p:cNvSpPr/>
          <p:nvPr/>
        </p:nvSpPr>
        <p:spPr>
          <a:xfrm>
            <a:off x="502920" y="6510528"/>
            <a:ext cx="5029200" cy="164592"/>
          </a:xfrm>
          <a:prstGeom prst="rect">
            <a:avLst/>
          </a:prstGeom>
          <a:noFill/>
          <a:ln/>
        </p:spPr>
        <p:txBody>
          <a:bodyPr wrap="square" lIns="0" tIns="0" rIns="0" bIns="0" rtlCol="0" anchor="ctr"/>
          <a:lstStyle/>
          <a:p>
            <a:pPr indent="0" marL="0">
              <a:buNone/>
            </a:pPr>
            <a:r>
              <a:rPr lang="en-US" sz="750" dirty="0">
                <a:solidFill>
                  <a:srgbClr val="7C8680"/>
                </a:solidFill>
                <a:latin typeface="Aptos" pitchFamily="34" charset="0"/>
                <a:ea typeface="Aptos" pitchFamily="34" charset="-122"/>
                <a:cs typeface="Aptos" pitchFamily="34" charset="-120"/>
              </a:rPr>
              <a:t>SpiritualRetreats.network  |  Brand Portfolio</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2E7"/>
        </a:solidFill>
      </p:bgPr>
    </p:bg>
    <p:spTree>
      <p:nvGrpSpPr>
        <p:cNvPr id="1" name=""/>
        <p:cNvGrpSpPr/>
        <p:nvPr/>
      </p:nvGrpSpPr>
      <p:grpSpPr>
        <a:xfrm>
          <a:off x="0" y="0"/>
          <a:ext cx="0" cy="0"/>
          <a:chOff x="0" y="0"/>
          <a:chExt cx="0" cy="0"/>
        </a:xfrm>
      </p:grpSpPr>
      <p:sp>
        <p:nvSpPr>
          <p:cNvPr id="2" name="Text 0"/>
          <p:cNvSpPr/>
          <p:nvPr/>
        </p:nvSpPr>
        <p:spPr>
          <a:xfrm>
            <a:off x="502920" y="320040"/>
            <a:ext cx="1005840" cy="320040"/>
          </a:xfrm>
          <a:prstGeom prst="rect">
            <a:avLst/>
          </a:prstGeom>
          <a:noFill/>
          <a:ln/>
        </p:spPr>
        <p:txBody>
          <a:bodyPr wrap="square" lIns="0" tIns="0" rIns="0" bIns="0" rtlCol="0" anchor="ctr"/>
          <a:lstStyle/>
          <a:p>
            <a:pPr indent="0" marL="0">
              <a:buNone/>
            </a:pPr>
            <a:r>
              <a:rPr lang="en-US" sz="1200" b="1" dirty="0">
                <a:solidFill>
                  <a:srgbClr val="D9A233"/>
                </a:solidFill>
                <a:latin typeface="Aptos" pitchFamily="34" charset="0"/>
                <a:ea typeface="Aptos" pitchFamily="34" charset="-122"/>
                <a:cs typeface="Aptos" pitchFamily="34" charset="-120"/>
              </a:rPr>
              <a:t>06</a:t>
            </a:r>
            <a:endParaRPr lang="en-US" sz="1200" dirty="0"/>
          </a:p>
        </p:txBody>
      </p:sp>
      <p:sp>
        <p:nvSpPr>
          <p:cNvPr id="3" name="Text 1"/>
          <p:cNvSpPr/>
          <p:nvPr/>
        </p:nvSpPr>
        <p:spPr>
          <a:xfrm>
            <a:off x="502920" y="658368"/>
            <a:ext cx="8046720" cy="502920"/>
          </a:xfrm>
          <a:prstGeom prst="rect">
            <a:avLst/>
          </a:prstGeom>
          <a:noFill/>
          <a:ln/>
        </p:spPr>
        <p:txBody>
          <a:bodyPr wrap="square" lIns="0" tIns="0" rIns="0" bIns="0" rtlCol="0" anchor="ctr"/>
          <a:lstStyle/>
          <a:p>
            <a:pPr indent="0" marL="0">
              <a:buNone/>
            </a:pPr>
            <a:r>
              <a:rPr lang="en-US" sz="2800" b="1" dirty="0">
                <a:solidFill>
                  <a:srgbClr val="0B4A36"/>
                </a:solidFill>
                <a:latin typeface="Georgia" pitchFamily="34" charset="0"/>
                <a:ea typeface="Georgia" pitchFamily="34" charset="-122"/>
                <a:cs typeface="Georgia" pitchFamily="34" charset="-120"/>
              </a:rPr>
              <a:t>Photography &amp; Mood</a:t>
            </a:r>
            <a:endParaRPr lang="en-US" sz="2800" dirty="0"/>
          </a:p>
        </p:txBody>
      </p:sp>
      <p:sp>
        <p:nvSpPr>
          <p:cNvPr id="4" name="Text 2"/>
          <p:cNvSpPr/>
          <p:nvPr/>
        </p:nvSpPr>
        <p:spPr>
          <a:xfrm>
            <a:off x="502920" y="1170432"/>
            <a:ext cx="8778240" cy="301752"/>
          </a:xfrm>
          <a:prstGeom prst="rect">
            <a:avLst/>
          </a:prstGeom>
          <a:noFill/>
          <a:ln/>
        </p:spPr>
        <p:txBody>
          <a:bodyPr wrap="square" lIns="0" tIns="0" rIns="0" bIns="0" rtlCol="0" anchor="ctr"/>
          <a:lstStyle/>
          <a:p>
            <a:pPr indent="0" marL="0">
              <a:buNone/>
            </a:pPr>
            <a:r>
              <a:rPr lang="en-US" sz="1250" dirty="0">
                <a:solidFill>
                  <a:srgbClr val="B77938"/>
                </a:solidFill>
                <a:latin typeface="Aptos" pitchFamily="34" charset="0"/>
                <a:ea typeface="Aptos" pitchFamily="34" charset="-122"/>
                <a:cs typeface="Aptos" pitchFamily="34" charset="-120"/>
              </a:rPr>
              <a:t>The imagery should feel real, spacious, grounded, human, and gently mystical.</a:t>
            </a:r>
            <a:endParaRPr lang="en-US" sz="1250" dirty="0"/>
          </a:p>
        </p:txBody>
      </p:sp>
      <p:sp>
        <p:nvSpPr>
          <p:cNvPr id="5" name="Shape 3"/>
          <p:cNvSpPr/>
          <p:nvPr/>
        </p:nvSpPr>
        <p:spPr>
          <a:xfrm>
            <a:off x="502920" y="1581912"/>
            <a:ext cx="1920240" cy="0"/>
          </a:xfrm>
          <a:prstGeom prst="line">
            <a:avLst/>
          </a:prstGeom>
          <a:noFill/>
          <a:ln w="15240">
            <a:solidFill>
              <a:srgbClr val="D9A233"/>
            </a:solidFill>
            <a:prstDash val="solid"/>
          </a:ln>
        </p:spPr>
      </p:sp>
      <p:pic>
        <p:nvPicPr>
          <p:cNvPr id="6" name="Image 0" descr="/mnt/data/SpiritualRetreats_assets/logo_mark_geometry_lotus.png">    </p:cNvPr>
          <p:cNvPicPr>
            <a:picLocks noChangeAspect="1"/>
          </p:cNvPicPr>
          <p:nvPr/>
        </p:nvPicPr>
        <p:blipFill>
          <a:blip r:embed="rId1"/>
          <a:srcRect l="0" r="0" t="9774" b="9774"/>
          <a:stretch/>
        </p:blipFill>
        <p:spPr>
          <a:xfrm>
            <a:off x="10789920" y="228600"/>
            <a:ext cx="777240" cy="777240"/>
          </a:xfrm>
          <a:prstGeom prst="rect">
            <a:avLst/>
          </a:prstGeom>
        </p:spPr>
      </p:pic>
      <p:pic>
        <p:nvPicPr>
          <p:cNvPr id="7" name="Image 1" descr="/mnt/data/SpiritualRetreats_assets/photo_meditation_mountains.jpg">    </p:cNvPr>
          <p:cNvPicPr>
            <a:picLocks noChangeAspect="1"/>
          </p:cNvPicPr>
          <p:nvPr/>
        </p:nvPicPr>
        <p:blipFill>
          <a:blip r:embed="rId2"/>
          <a:srcRect l="0" r="0" t="28295" b="28295"/>
          <a:stretch/>
        </p:blipFill>
        <p:spPr>
          <a:xfrm>
            <a:off x="685800" y="1874520"/>
            <a:ext cx="2606040" cy="1920240"/>
          </a:xfrm>
          <a:prstGeom prst="rect">
            <a:avLst/>
          </a:prstGeom>
        </p:spPr>
      </p:pic>
      <p:pic>
        <p:nvPicPr>
          <p:cNvPr id="8" name="Image 2" descr="/mnt/data/SpiritualRetreats_assets/photo_retreat_lake.jpg">    </p:cNvPr>
          <p:cNvPicPr>
            <a:picLocks noChangeAspect="1"/>
          </p:cNvPicPr>
          <p:nvPr/>
        </p:nvPicPr>
        <p:blipFill>
          <a:blip r:embed="rId3"/>
          <a:srcRect l="0" r="0" t="16316" b="16316"/>
          <a:stretch/>
        </p:blipFill>
        <p:spPr>
          <a:xfrm>
            <a:off x="3566160" y="1874520"/>
            <a:ext cx="2606040" cy="1920240"/>
          </a:xfrm>
          <a:prstGeom prst="rect">
            <a:avLst/>
          </a:prstGeom>
        </p:spPr>
      </p:pic>
      <p:pic>
        <p:nvPicPr>
          <p:cNvPr id="9" name="Image 3" descr="/mnt/data/SpiritualRetreats_assets/photo_deck_sunrise.jpg">    </p:cNvPr>
          <p:cNvPicPr>
            <a:picLocks noChangeAspect="1"/>
          </p:cNvPicPr>
          <p:nvPr/>
        </p:nvPicPr>
        <p:blipFill>
          <a:blip r:embed="rId4"/>
          <a:srcRect l="0" r="0" t="19771" b="19771"/>
          <a:stretch/>
        </p:blipFill>
        <p:spPr>
          <a:xfrm>
            <a:off x="6446520" y="1874520"/>
            <a:ext cx="2606040" cy="1920240"/>
          </a:xfrm>
          <a:prstGeom prst="rect">
            <a:avLst/>
          </a:prstGeom>
        </p:spPr>
      </p:pic>
      <p:pic>
        <p:nvPicPr>
          <p:cNvPr id="10" name="Image 4" descr="/mnt/data/SpiritualRetreats_assets/photo_stones_sunset.jpg">    </p:cNvPr>
          <p:cNvPicPr>
            <a:picLocks noChangeAspect="1"/>
          </p:cNvPicPr>
          <p:nvPr/>
        </p:nvPicPr>
        <p:blipFill>
          <a:blip r:embed="rId5"/>
          <a:srcRect l="0" r="0" t="7333" b="7333"/>
          <a:stretch/>
        </p:blipFill>
        <p:spPr>
          <a:xfrm>
            <a:off x="9326880" y="1874520"/>
            <a:ext cx="2057400" cy="1920240"/>
          </a:xfrm>
          <a:prstGeom prst="rect">
            <a:avLst/>
          </a:prstGeom>
        </p:spPr>
      </p:pic>
      <p:sp>
        <p:nvSpPr>
          <p:cNvPr id="11" name="Text 4"/>
          <p:cNvSpPr/>
          <p:nvPr/>
        </p:nvSpPr>
        <p:spPr>
          <a:xfrm>
            <a:off x="777240" y="4343400"/>
            <a:ext cx="4846320" cy="320040"/>
          </a:xfrm>
          <a:prstGeom prst="rect">
            <a:avLst/>
          </a:prstGeom>
          <a:noFill/>
          <a:ln/>
        </p:spPr>
        <p:txBody>
          <a:bodyPr wrap="square" lIns="0" tIns="0" rIns="0" bIns="0" rtlCol="0" anchor="ctr"/>
          <a:lstStyle/>
          <a:p>
            <a:pPr indent="0" marL="0">
              <a:buNone/>
            </a:pPr>
            <a:r>
              <a:rPr lang="en-US" sz="1600" b="1" dirty="0">
                <a:solidFill>
                  <a:srgbClr val="0B4A36"/>
                </a:solidFill>
                <a:latin typeface="Georgia" pitchFamily="34" charset="0"/>
                <a:ea typeface="Georgia" pitchFamily="34" charset="-122"/>
                <a:cs typeface="Georgia" pitchFamily="34" charset="-120"/>
              </a:rPr>
              <a:t>Use imagery that says</a:t>
            </a:r>
            <a:endParaRPr lang="en-US" sz="1600" dirty="0"/>
          </a:p>
        </p:txBody>
      </p:sp>
      <p:sp>
        <p:nvSpPr>
          <p:cNvPr id="12" name="Text 5"/>
          <p:cNvSpPr/>
          <p:nvPr/>
        </p:nvSpPr>
        <p:spPr>
          <a:xfrm>
            <a:off x="777240" y="4754880"/>
            <a:ext cx="4846320" cy="1005840"/>
          </a:xfrm>
          <a:prstGeom prst="rect">
            <a:avLst/>
          </a:prstGeom>
          <a:noFill/>
          <a:ln/>
        </p:spPr>
        <p:txBody>
          <a:bodyPr wrap="square" lIns="254" tIns="254" rIns="254" bIns="254" rtlCol="0" anchor="t">
            <a:normAutofit/>
          </a:bodyPr>
          <a:lstStyle/>
          <a:p>
            <a:r>
              <a:rPr lang="en-US" sz="1080" dirty="0">
                <a:solidFill>
                  <a:srgbClr val="1B2A28"/>
                </a:solidFill>
                <a:latin typeface="Aptos" pitchFamily="34" charset="0"/>
                <a:ea typeface="Aptos" pitchFamily="34" charset="-122"/>
                <a:cs typeface="Aptos" pitchFamily="34" charset="-120"/>
              </a:rPr>
              <a:t>nature, mountain air, water, forests, sunrise, ceremony, stillness
</a:t>
            </a:r>
            <a:endParaRPr lang="en-US" sz="1080" dirty="0"/>
          </a:p>
          <a:p>
            <a:r>
              <a:rPr lang="en-US" sz="1080" dirty="0">
                <a:solidFill>
                  <a:srgbClr val="1B2A28"/>
                </a:solidFill>
                <a:latin typeface="Aptos" pitchFamily="34" charset="0"/>
                <a:ea typeface="Aptos" pitchFamily="34" charset="-122"/>
                <a:cs typeface="Aptos" pitchFamily="34" charset="-120"/>
              </a:rPr>
              <a:t>people in retreat settings - often from behind or at respectful distance
</a:t>
            </a:r>
            <a:endParaRPr lang="en-US" sz="1080" dirty="0"/>
          </a:p>
          <a:p>
            <a:r>
              <a:rPr lang="en-US" sz="1080" dirty="0">
                <a:solidFill>
                  <a:srgbClr val="1B2A28"/>
                </a:solidFill>
                <a:latin typeface="Aptos" pitchFamily="34" charset="0"/>
                <a:ea typeface="Aptos" pitchFamily="34" charset="-122"/>
                <a:cs typeface="Aptos" pitchFamily="34" charset="-120"/>
              </a:rPr>
              <a:t>light entering the scene, but never fake or over-saturated
</a:t>
            </a:r>
            <a:endParaRPr lang="en-US" sz="1080" dirty="0"/>
          </a:p>
          <a:p>
            <a:r>
              <a:rPr lang="en-US" sz="1080" dirty="0">
                <a:solidFill>
                  <a:srgbClr val="1B2A28"/>
                </a:solidFill>
                <a:latin typeface="Aptos" pitchFamily="34" charset="0"/>
                <a:ea typeface="Aptos" pitchFamily="34" charset="-122"/>
                <a:cs typeface="Aptos" pitchFamily="34" charset="-120"/>
              </a:rPr>
              <a:t>organic textures: stone, wood, linen, earth, sky, leaves, paths</a:t>
            </a:r>
            <a:endParaRPr lang="en-US" sz="1080" dirty="0"/>
          </a:p>
        </p:txBody>
      </p:sp>
      <p:sp>
        <p:nvSpPr>
          <p:cNvPr id="13" name="Text 6"/>
          <p:cNvSpPr/>
          <p:nvPr/>
        </p:nvSpPr>
        <p:spPr>
          <a:xfrm>
            <a:off x="6400800" y="4343400"/>
            <a:ext cx="4709160" cy="320040"/>
          </a:xfrm>
          <a:prstGeom prst="rect">
            <a:avLst/>
          </a:prstGeom>
          <a:noFill/>
          <a:ln/>
        </p:spPr>
        <p:txBody>
          <a:bodyPr wrap="square" lIns="0" tIns="0" rIns="0" bIns="0" rtlCol="0" anchor="ctr"/>
          <a:lstStyle/>
          <a:p>
            <a:pPr indent="0" marL="0">
              <a:buNone/>
            </a:pPr>
            <a:r>
              <a:rPr lang="en-US" sz="1600" b="1" dirty="0">
                <a:solidFill>
                  <a:srgbClr val="0B4A36"/>
                </a:solidFill>
                <a:latin typeface="Georgia" pitchFamily="34" charset="0"/>
                <a:ea typeface="Georgia" pitchFamily="34" charset="-122"/>
                <a:cs typeface="Georgia" pitchFamily="34" charset="-120"/>
              </a:rPr>
              <a:t>Avoid imagery that feels</a:t>
            </a:r>
            <a:endParaRPr lang="en-US" sz="1600" dirty="0"/>
          </a:p>
        </p:txBody>
      </p:sp>
      <p:sp>
        <p:nvSpPr>
          <p:cNvPr id="14" name="Text 7"/>
          <p:cNvSpPr/>
          <p:nvPr/>
        </p:nvSpPr>
        <p:spPr>
          <a:xfrm>
            <a:off x="6400800" y="4754880"/>
            <a:ext cx="4709160" cy="1005840"/>
          </a:xfrm>
          <a:prstGeom prst="rect">
            <a:avLst/>
          </a:prstGeom>
          <a:noFill/>
          <a:ln/>
        </p:spPr>
        <p:txBody>
          <a:bodyPr wrap="square" lIns="254" tIns="254" rIns="254" bIns="254" rtlCol="0" anchor="t">
            <a:normAutofit/>
          </a:bodyPr>
          <a:lstStyle/>
          <a:p>
            <a:r>
              <a:rPr lang="en-US" sz="1080" dirty="0">
                <a:solidFill>
                  <a:srgbClr val="1B2A28"/>
                </a:solidFill>
                <a:latin typeface="Aptos" pitchFamily="34" charset="0"/>
                <a:ea typeface="Aptos" pitchFamily="34" charset="-122"/>
                <a:cs typeface="Aptos" pitchFamily="34" charset="-120"/>
              </a:rPr>
              <a:t>overly corporate, glossy wellness stock, plastic, sterile or cold
</a:t>
            </a:r>
            <a:endParaRPr lang="en-US" sz="1080" dirty="0"/>
          </a:p>
          <a:p>
            <a:r>
              <a:rPr lang="en-US" sz="1080" dirty="0">
                <a:solidFill>
                  <a:srgbClr val="1B2A28"/>
                </a:solidFill>
                <a:latin typeface="Aptos" pitchFamily="34" charset="0"/>
                <a:ea typeface="Aptos" pitchFamily="34" charset="-122"/>
                <a:cs typeface="Aptos" pitchFamily="34" charset="-120"/>
              </a:rPr>
              <a:t>too religious, dogmatic or tied to one spiritual tradition
</a:t>
            </a:r>
            <a:endParaRPr lang="en-US" sz="1080" dirty="0"/>
          </a:p>
          <a:p>
            <a:r>
              <a:rPr lang="en-US" sz="1080" dirty="0">
                <a:solidFill>
                  <a:srgbClr val="1B2A28"/>
                </a:solidFill>
                <a:latin typeface="Aptos" pitchFamily="34" charset="0"/>
                <a:ea typeface="Aptos" pitchFamily="34" charset="-122"/>
                <a:cs typeface="Aptos" pitchFamily="34" charset="-120"/>
              </a:rPr>
              <a:t>too dark, occult, fantasy-heavy, or disconnected from real retreats
</a:t>
            </a:r>
            <a:endParaRPr lang="en-US" sz="1080" dirty="0"/>
          </a:p>
          <a:p>
            <a:r>
              <a:rPr lang="en-US" sz="1080" dirty="0">
                <a:solidFill>
                  <a:srgbClr val="1B2A28"/>
                </a:solidFill>
                <a:latin typeface="Aptos" pitchFamily="34" charset="0"/>
                <a:ea typeface="Aptos" pitchFamily="34" charset="-122"/>
                <a:cs typeface="Aptos" pitchFamily="34" charset="-120"/>
              </a:rPr>
              <a:t>crowded, noisy, or visually busy</a:t>
            </a:r>
            <a:endParaRPr lang="en-US" sz="1080" dirty="0"/>
          </a:p>
        </p:txBody>
      </p:sp>
      <p:sp>
        <p:nvSpPr>
          <p:cNvPr id="15" name="Text 8"/>
          <p:cNvSpPr/>
          <p:nvPr/>
        </p:nvSpPr>
        <p:spPr>
          <a:xfrm>
            <a:off x="502920" y="6510528"/>
            <a:ext cx="5029200" cy="164592"/>
          </a:xfrm>
          <a:prstGeom prst="rect">
            <a:avLst/>
          </a:prstGeom>
          <a:noFill/>
          <a:ln/>
        </p:spPr>
        <p:txBody>
          <a:bodyPr wrap="square" lIns="0" tIns="0" rIns="0" bIns="0" rtlCol="0" anchor="ctr"/>
          <a:lstStyle/>
          <a:p>
            <a:pPr indent="0" marL="0">
              <a:buNone/>
            </a:pPr>
            <a:r>
              <a:rPr lang="en-US" sz="750" dirty="0">
                <a:solidFill>
                  <a:srgbClr val="7C8680"/>
                </a:solidFill>
                <a:latin typeface="Aptos" pitchFamily="34" charset="0"/>
                <a:ea typeface="Aptos" pitchFamily="34" charset="-122"/>
                <a:cs typeface="Aptos" pitchFamily="34" charset="-120"/>
              </a:rPr>
              <a:t>SpiritualRetreats.network  |  Brand Portfolio</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7EE"/>
        </a:solidFill>
      </p:bgPr>
    </p:bg>
    <p:spTree>
      <p:nvGrpSpPr>
        <p:cNvPr id="1" name=""/>
        <p:cNvGrpSpPr/>
        <p:nvPr/>
      </p:nvGrpSpPr>
      <p:grpSpPr>
        <a:xfrm>
          <a:off x="0" y="0"/>
          <a:ext cx="0" cy="0"/>
          <a:chOff x="0" y="0"/>
          <a:chExt cx="0" cy="0"/>
        </a:xfrm>
      </p:grpSpPr>
      <p:sp>
        <p:nvSpPr>
          <p:cNvPr id="2" name="Text 0"/>
          <p:cNvSpPr/>
          <p:nvPr/>
        </p:nvSpPr>
        <p:spPr>
          <a:xfrm>
            <a:off x="502920" y="320040"/>
            <a:ext cx="1005840" cy="320040"/>
          </a:xfrm>
          <a:prstGeom prst="rect">
            <a:avLst/>
          </a:prstGeom>
          <a:noFill/>
          <a:ln/>
        </p:spPr>
        <p:txBody>
          <a:bodyPr wrap="square" lIns="0" tIns="0" rIns="0" bIns="0" rtlCol="0" anchor="ctr"/>
          <a:lstStyle/>
          <a:p>
            <a:pPr indent="0" marL="0">
              <a:buNone/>
            </a:pPr>
            <a:r>
              <a:rPr lang="en-US" sz="1200" b="1" dirty="0">
                <a:solidFill>
                  <a:srgbClr val="D9A233"/>
                </a:solidFill>
                <a:latin typeface="Aptos" pitchFamily="34" charset="0"/>
                <a:ea typeface="Aptos" pitchFamily="34" charset="-122"/>
                <a:cs typeface="Aptos" pitchFamily="34" charset="-120"/>
              </a:rPr>
              <a:t>07</a:t>
            </a:r>
            <a:endParaRPr lang="en-US" sz="1200" dirty="0"/>
          </a:p>
        </p:txBody>
      </p:sp>
      <p:sp>
        <p:nvSpPr>
          <p:cNvPr id="3" name="Text 1"/>
          <p:cNvSpPr/>
          <p:nvPr/>
        </p:nvSpPr>
        <p:spPr>
          <a:xfrm>
            <a:off x="502920" y="658368"/>
            <a:ext cx="8046720" cy="502920"/>
          </a:xfrm>
          <a:prstGeom prst="rect">
            <a:avLst/>
          </a:prstGeom>
          <a:noFill/>
          <a:ln/>
        </p:spPr>
        <p:txBody>
          <a:bodyPr wrap="square" lIns="0" tIns="0" rIns="0" bIns="0" rtlCol="0" anchor="ctr"/>
          <a:lstStyle/>
          <a:p>
            <a:pPr indent="0" marL="0">
              <a:buNone/>
            </a:pPr>
            <a:r>
              <a:rPr lang="en-US" sz="2800" b="1" dirty="0">
                <a:solidFill>
                  <a:srgbClr val="0B4A36"/>
                </a:solidFill>
                <a:latin typeface="Georgia" pitchFamily="34" charset="0"/>
                <a:ea typeface="Georgia" pitchFamily="34" charset="-122"/>
                <a:cs typeface="Georgia" pitchFamily="34" charset="-120"/>
              </a:rPr>
              <a:t>Graphic Language</a:t>
            </a:r>
            <a:endParaRPr lang="en-US" sz="2800" dirty="0"/>
          </a:p>
        </p:txBody>
      </p:sp>
      <p:sp>
        <p:nvSpPr>
          <p:cNvPr id="4" name="Text 2"/>
          <p:cNvSpPr/>
          <p:nvPr/>
        </p:nvSpPr>
        <p:spPr>
          <a:xfrm>
            <a:off x="502920" y="1170432"/>
            <a:ext cx="8778240" cy="301752"/>
          </a:xfrm>
          <a:prstGeom prst="rect">
            <a:avLst/>
          </a:prstGeom>
          <a:noFill/>
          <a:ln/>
        </p:spPr>
        <p:txBody>
          <a:bodyPr wrap="square" lIns="0" tIns="0" rIns="0" bIns="0" rtlCol="0" anchor="ctr"/>
          <a:lstStyle/>
          <a:p>
            <a:pPr indent="0" marL="0">
              <a:buNone/>
            </a:pPr>
            <a:r>
              <a:rPr lang="en-US" sz="1250" dirty="0">
                <a:solidFill>
                  <a:srgbClr val="B77938"/>
                </a:solidFill>
                <a:latin typeface="Aptos" pitchFamily="34" charset="0"/>
                <a:ea typeface="Aptos" pitchFamily="34" charset="-122"/>
                <a:cs typeface="Aptos" pitchFamily="34" charset="-120"/>
              </a:rPr>
              <a:t>Sacred geometry above, nature beneath, clean platform structure in the middle.</a:t>
            </a:r>
            <a:endParaRPr lang="en-US" sz="1250" dirty="0"/>
          </a:p>
        </p:txBody>
      </p:sp>
      <p:sp>
        <p:nvSpPr>
          <p:cNvPr id="5" name="Shape 3"/>
          <p:cNvSpPr/>
          <p:nvPr/>
        </p:nvSpPr>
        <p:spPr>
          <a:xfrm>
            <a:off x="502920" y="1581912"/>
            <a:ext cx="1920240" cy="0"/>
          </a:xfrm>
          <a:prstGeom prst="line">
            <a:avLst/>
          </a:prstGeom>
          <a:noFill/>
          <a:ln w="15240">
            <a:solidFill>
              <a:srgbClr val="D9A233"/>
            </a:solidFill>
            <a:prstDash val="solid"/>
          </a:ln>
        </p:spPr>
      </p:sp>
      <p:pic>
        <p:nvPicPr>
          <p:cNvPr id="6" name="Image 0" descr="/mnt/data/SpiritualRetreats_assets/logo_mark_geometry_lotus.png">    </p:cNvPr>
          <p:cNvPicPr>
            <a:picLocks noChangeAspect="1"/>
          </p:cNvPicPr>
          <p:nvPr/>
        </p:nvPicPr>
        <p:blipFill>
          <a:blip r:embed="rId1"/>
          <a:srcRect l="0" r="0" t="9774" b="9774"/>
          <a:stretch/>
        </p:blipFill>
        <p:spPr>
          <a:xfrm>
            <a:off x="10789920" y="228600"/>
            <a:ext cx="777240" cy="777240"/>
          </a:xfrm>
          <a:prstGeom prst="rect">
            <a:avLst/>
          </a:prstGeom>
        </p:spPr>
      </p:pic>
      <p:pic>
        <p:nvPicPr>
          <p:cNvPr id="7" name="Image 1" descr="/mnt/data/SpiritualRetreats_assets/logo_mark_geometry_lotus.png">    </p:cNvPr>
          <p:cNvPicPr>
            <a:picLocks noChangeAspect="1"/>
          </p:cNvPicPr>
          <p:nvPr/>
        </p:nvPicPr>
        <p:blipFill>
          <a:blip r:embed="rId2"/>
          <a:srcRect l="0" r="0" t="2145" b="2145"/>
          <a:stretch/>
        </p:blipFill>
        <p:spPr>
          <a:xfrm>
            <a:off x="685800" y="1828800"/>
            <a:ext cx="2651760" cy="3154680"/>
          </a:xfrm>
          <a:prstGeom prst="rect">
            <a:avLst/>
          </a:prstGeom>
        </p:spPr>
      </p:pic>
      <p:sp>
        <p:nvSpPr>
          <p:cNvPr id="8" name="Text 4"/>
          <p:cNvSpPr/>
          <p:nvPr/>
        </p:nvSpPr>
        <p:spPr>
          <a:xfrm>
            <a:off x="3886200" y="1874520"/>
            <a:ext cx="2971800" cy="292608"/>
          </a:xfrm>
          <a:prstGeom prst="rect">
            <a:avLst/>
          </a:prstGeom>
          <a:noFill/>
          <a:ln/>
        </p:spPr>
        <p:txBody>
          <a:bodyPr wrap="square" lIns="0" tIns="0" rIns="0" bIns="0" rtlCol="0" anchor="ctr"/>
          <a:lstStyle/>
          <a:p>
            <a:pPr indent="0" marL="0">
              <a:buNone/>
            </a:pPr>
            <a:r>
              <a:rPr lang="en-US" sz="1700" b="1" dirty="0">
                <a:solidFill>
                  <a:srgbClr val="0B4A36"/>
                </a:solidFill>
                <a:latin typeface="Georgia" pitchFamily="34" charset="0"/>
                <a:ea typeface="Georgia" pitchFamily="34" charset="-122"/>
                <a:cs typeface="Georgia" pitchFamily="34" charset="-120"/>
              </a:rPr>
              <a:t>Sacred geometry</a:t>
            </a:r>
            <a:endParaRPr lang="en-US" sz="1700" dirty="0"/>
          </a:p>
        </p:txBody>
      </p:sp>
      <p:sp>
        <p:nvSpPr>
          <p:cNvPr id="9" name="Text 5"/>
          <p:cNvSpPr/>
          <p:nvPr/>
        </p:nvSpPr>
        <p:spPr>
          <a:xfrm>
            <a:off x="3886200" y="2258568"/>
            <a:ext cx="2971800" cy="850392"/>
          </a:xfrm>
          <a:prstGeom prst="rect">
            <a:avLst/>
          </a:prstGeom>
          <a:noFill/>
          <a:ln/>
        </p:spPr>
        <p:txBody>
          <a:bodyPr wrap="square" lIns="381" tIns="381" rIns="381" bIns="381" rtlCol="0" anchor="t">
            <a:normAutofit/>
          </a:bodyPr>
          <a:lstStyle/>
          <a:p>
            <a:pPr indent="0" marL="0">
              <a:buNone/>
            </a:pPr>
            <a:r>
              <a:rPr lang="en-US" sz="1100" dirty="0">
                <a:solidFill>
                  <a:srgbClr val="1B2A28"/>
                </a:solidFill>
                <a:latin typeface="Aptos" pitchFamily="34" charset="0"/>
                <a:ea typeface="Aptos" pitchFamily="34" charset="-122"/>
                <a:cs typeface="Aptos" pitchFamily="34" charset="-120"/>
              </a:rPr>
              <a:t>The geometry should be treated as a premium signal, not a pattern everywhere. Use it as a seal, a very subtle watermark, a hero detail, or a special section divider.</a:t>
            </a:r>
            <a:endParaRPr lang="en-US" sz="1100" dirty="0"/>
          </a:p>
        </p:txBody>
      </p:sp>
      <p:sp>
        <p:nvSpPr>
          <p:cNvPr id="10" name="Text 6"/>
          <p:cNvSpPr/>
          <p:nvPr/>
        </p:nvSpPr>
        <p:spPr>
          <a:xfrm>
            <a:off x="7543800" y="1874520"/>
            <a:ext cx="3063240" cy="292608"/>
          </a:xfrm>
          <a:prstGeom prst="rect">
            <a:avLst/>
          </a:prstGeom>
          <a:noFill/>
          <a:ln/>
        </p:spPr>
        <p:txBody>
          <a:bodyPr wrap="square" lIns="0" tIns="0" rIns="0" bIns="0" rtlCol="0" anchor="ctr"/>
          <a:lstStyle/>
          <a:p>
            <a:pPr indent="0" marL="0">
              <a:buNone/>
            </a:pPr>
            <a:r>
              <a:rPr lang="en-US" sz="1700" b="1" dirty="0">
                <a:solidFill>
                  <a:srgbClr val="0B4A36"/>
                </a:solidFill>
                <a:latin typeface="Georgia" pitchFamily="34" charset="0"/>
                <a:ea typeface="Georgia" pitchFamily="34" charset="-122"/>
                <a:cs typeface="Georgia" pitchFamily="34" charset="-120"/>
              </a:rPr>
              <a:t>Nature base</a:t>
            </a:r>
            <a:endParaRPr lang="en-US" sz="1700" dirty="0"/>
          </a:p>
        </p:txBody>
      </p:sp>
      <p:sp>
        <p:nvSpPr>
          <p:cNvPr id="11" name="Text 7"/>
          <p:cNvSpPr/>
          <p:nvPr/>
        </p:nvSpPr>
        <p:spPr>
          <a:xfrm>
            <a:off x="7543800" y="2258568"/>
            <a:ext cx="3063240" cy="850392"/>
          </a:xfrm>
          <a:prstGeom prst="rect">
            <a:avLst/>
          </a:prstGeom>
          <a:noFill/>
          <a:ln/>
        </p:spPr>
        <p:txBody>
          <a:bodyPr wrap="square" lIns="381" tIns="381" rIns="381" bIns="381" rtlCol="0" anchor="t">
            <a:normAutofit/>
          </a:bodyPr>
          <a:lstStyle/>
          <a:p>
            <a:pPr indent="0" marL="0">
              <a:buNone/>
            </a:pPr>
            <a:r>
              <a:rPr lang="en-US" sz="1100" dirty="0">
                <a:solidFill>
                  <a:srgbClr val="1B2A28"/>
                </a:solidFill>
                <a:latin typeface="Aptos" pitchFamily="34" charset="0"/>
                <a:ea typeface="Aptos" pitchFamily="34" charset="-122"/>
                <a:cs typeface="Aptos" pitchFamily="34" charset="-120"/>
              </a:rPr>
              <a:t>Use soft earth forms, mountain silhouettes, river curves, leaf motifs and warm textures to keep the brand grounded in the actual retreat experience.</a:t>
            </a:r>
            <a:endParaRPr lang="en-US" sz="1100" dirty="0"/>
          </a:p>
        </p:txBody>
      </p:sp>
      <p:sp>
        <p:nvSpPr>
          <p:cNvPr id="12" name="Text 8"/>
          <p:cNvSpPr/>
          <p:nvPr/>
        </p:nvSpPr>
        <p:spPr>
          <a:xfrm>
            <a:off x="3886200" y="3794760"/>
            <a:ext cx="4754880" cy="274320"/>
          </a:xfrm>
          <a:prstGeom prst="rect">
            <a:avLst/>
          </a:prstGeom>
          <a:noFill/>
          <a:ln/>
        </p:spPr>
        <p:txBody>
          <a:bodyPr wrap="square" lIns="0" tIns="0" rIns="0" bIns="0" rtlCol="0" anchor="ctr"/>
          <a:lstStyle/>
          <a:p>
            <a:pPr indent="0" marL="0">
              <a:buNone/>
            </a:pPr>
            <a:r>
              <a:rPr lang="en-US" sz="1700" b="1" dirty="0">
                <a:solidFill>
                  <a:srgbClr val="0B4A36"/>
                </a:solidFill>
                <a:latin typeface="Georgia" pitchFamily="34" charset="0"/>
                <a:ea typeface="Georgia" pitchFamily="34" charset="-122"/>
                <a:cs typeface="Georgia" pitchFamily="34" charset="-120"/>
              </a:rPr>
              <a:t>The four-pillar colour rhythm</a:t>
            </a:r>
            <a:endParaRPr lang="en-US" sz="1700" dirty="0"/>
          </a:p>
        </p:txBody>
      </p:sp>
      <p:sp>
        <p:nvSpPr>
          <p:cNvPr id="13" name="Shape 9"/>
          <p:cNvSpPr/>
          <p:nvPr/>
        </p:nvSpPr>
        <p:spPr>
          <a:xfrm>
            <a:off x="3886200" y="4343400"/>
            <a:ext cx="384048" cy="384048"/>
          </a:xfrm>
          <a:prstGeom prst="ellipse">
            <a:avLst/>
          </a:prstGeom>
          <a:solidFill>
            <a:srgbClr val="0B4A36"/>
          </a:solidFill>
          <a:ln w="12700">
            <a:solidFill>
              <a:srgbClr val="0B4A36"/>
            </a:solidFill>
            <a:prstDash val="solid"/>
          </a:ln>
        </p:spPr>
      </p:sp>
      <p:sp>
        <p:nvSpPr>
          <p:cNvPr id="14" name="Text 10"/>
          <p:cNvSpPr/>
          <p:nvPr/>
        </p:nvSpPr>
        <p:spPr>
          <a:xfrm>
            <a:off x="3886200" y="4425696"/>
            <a:ext cx="384048" cy="128016"/>
          </a:xfrm>
          <a:prstGeom prst="rect">
            <a:avLst/>
          </a:prstGeom>
          <a:noFill/>
          <a:ln/>
        </p:spPr>
        <p:txBody>
          <a:bodyPr wrap="square" lIns="0" tIns="0" rIns="0" bIns="0" rtlCol="0" anchor="ctr"/>
          <a:lstStyle/>
          <a:p>
            <a:pPr algn="ctr" indent="0" marL="0">
              <a:buNone/>
            </a:pPr>
            <a:r>
              <a:rPr lang="en-US" sz="800" b="1" dirty="0">
                <a:solidFill>
                  <a:srgbClr val="FFFFFF"/>
                </a:solidFill>
                <a:latin typeface="Aptos" pitchFamily="34" charset="0"/>
                <a:ea typeface="Aptos" pitchFamily="34" charset="-122"/>
                <a:cs typeface="Aptos" pitchFamily="34" charset="-120"/>
              </a:rPr>
              <a:t>1</a:t>
            </a:r>
            <a:endParaRPr lang="en-US" sz="800" dirty="0"/>
          </a:p>
        </p:txBody>
      </p:sp>
      <p:sp>
        <p:nvSpPr>
          <p:cNvPr id="15" name="Text 11"/>
          <p:cNvSpPr/>
          <p:nvPr/>
        </p:nvSpPr>
        <p:spPr>
          <a:xfrm>
            <a:off x="4389120" y="4370832"/>
            <a:ext cx="2377440" cy="292608"/>
          </a:xfrm>
          <a:prstGeom prst="rect">
            <a:avLst/>
          </a:prstGeom>
          <a:noFill/>
          <a:ln/>
        </p:spPr>
        <p:txBody>
          <a:bodyPr wrap="square" lIns="0" tIns="0" rIns="0" bIns="0" rtlCol="0" anchor="ctr"/>
          <a:lstStyle/>
          <a:p>
            <a:pPr indent="0" marL="0">
              <a:buNone/>
            </a:pPr>
            <a:r>
              <a:rPr lang="en-US" sz="1040" b="1" dirty="0">
                <a:solidFill>
                  <a:srgbClr val="1B2A28"/>
                </a:solidFill>
                <a:latin typeface="Aptos" pitchFamily="34" charset="0"/>
                <a:ea typeface="Aptos" pitchFamily="34" charset="-122"/>
                <a:cs typeface="Aptos" pitchFamily="34" charset="-120"/>
              </a:rPr>
              <a:t>DISCOVER - seekers</a:t>
            </a:r>
            <a:endParaRPr lang="en-US" sz="1040" dirty="0"/>
          </a:p>
        </p:txBody>
      </p:sp>
      <p:sp>
        <p:nvSpPr>
          <p:cNvPr id="16" name="Shape 12"/>
          <p:cNvSpPr/>
          <p:nvPr/>
        </p:nvSpPr>
        <p:spPr>
          <a:xfrm>
            <a:off x="6903720" y="4343400"/>
            <a:ext cx="384048" cy="384048"/>
          </a:xfrm>
          <a:prstGeom prst="ellipse">
            <a:avLst/>
          </a:prstGeom>
          <a:solidFill>
            <a:srgbClr val="5B3B7A"/>
          </a:solidFill>
          <a:ln w="12700">
            <a:solidFill>
              <a:srgbClr val="5B3B7A"/>
            </a:solidFill>
            <a:prstDash val="solid"/>
          </a:ln>
        </p:spPr>
      </p:sp>
      <p:sp>
        <p:nvSpPr>
          <p:cNvPr id="17" name="Text 13"/>
          <p:cNvSpPr/>
          <p:nvPr/>
        </p:nvSpPr>
        <p:spPr>
          <a:xfrm>
            <a:off x="6903720" y="4425696"/>
            <a:ext cx="384048" cy="128016"/>
          </a:xfrm>
          <a:prstGeom prst="rect">
            <a:avLst/>
          </a:prstGeom>
          <a:noFill/>
          <a:ln/>
        </p:spPr>
        <p:txBody>
          <a:bodyPr wrap="square" lIns="0" tIns="0" rIns="0" bIns="0" rtlCol="0" anchor="ctr"/>
          <a:lstStyle/>
          <a:p>
            <a:pPr algn="ctr" indent="0" marL="0">
              <a:buNone/>
            </a:pPr>
            <a:r>
              <a:rPr lang="en-US" sz="800" b="1" dirty="0">
                <a:solidFill>
                  <a:srgbClr val="FFFFFF"/>
                </a:solidFill>
                <a:latin typeface="Aptos" pitchFamily="34" charset="0"/>
                <a:ea typeface="Aptos" pitchFamily="34" charset="-122"/>
                <a:cs typeface="Aptos" pitchFamily="34" charset="-120"/>
              </a:rPr>
              <a:t>2</a:t>
            </a:r>
            <a:endParaRPr lang="en-US" sz="800" dirty="0"/>
          </a:p>
        </p:txBody>
      </p:sp>
      <p:sp>
        <p:nvSpPr>
          <p:cNvPr id="18" name="Text 14"/>
          <p:cNvSpPr/>
          <p:nvPr/>
        </p:nvSpPr>
        <p:spPr>
          <a:xfrm>
            <a:off x="7406640" y="4370832"/>
            <a:ext cx="2377440" cy="292608"/>
          </a:xfrm>
          <a:prstGeom prst="rect">
            <a:avLst/>
          </a:prstGeom>
          <a:noFill/>
          <a:ln/>
        </p:spPr>
        <p:txBody>
          <a:bodyPr wrap="square" lIns="0" tIns="0" rIns="0" bIns="0" rtlCol="0" anchor="ctr"/>
          <a:lstStyle/>
          <a:p>
            <a:pPr indent="0" marL="0">
              <a:buNone/>
            </a:pPr>
            <a:r>
              <a:rPr lang="en-US" sz="1040" b="1" dirty="0">
                <a:solidFill>
                  <a:srgbClr val="1B2A28"/>
                </a:solidFill>
                <a:latin typeface="Aptos" pitchFamily="34" charset="0"/>
                <a:ea typeface="Aptos" pitchFamily="34" charset="-122"/>
                <a:cs typeface="Aptos" pitchFamily="34" charset="-120"/>
              </a:rPr>
              <a:t>GROW - leaders</a:t>
            </a:r>
            <a:endParaRPr lang="en-US" sz="1040" dirty="0"/>
          </a:p>
        </p:txBody>
      </p:sp>
      <p:sp>
        <p:nvSpPr>
          <p:cNvPr id="19" name="Shape 15"/>
          <p:cNvSpPr/>
          <p:nvPr/>
        </p:nvSpPr>
        <p:spPr>
          <a:xfrm>
            <a:off x="3886200" y="5074920"/>
            <a:ext cx="384048" cy="384048"/>
          </a:xfrm>
          <a:prstGeom prst="ellipse">
            <a:avLst/>
          </a:prstGeom>
          <a:solidFill>
            <a:srgbClr val="B77938"/>
          </a:solidFill>
          <a:ln w="12700">
            <a:solidFill>
              <a:srgbClr val="B77938"/>
            </a:solidFill>
            <a:prstDash val="solid"/>
          </a:ln>
        </p:spPr>
      </p:sp>
      <p:sp>
        <p:nvSpPr>
          <p:cNvPr id="20" name="Text 16"/>
          <p:cNvSpPr/>
          <p:nvPr/>
        </p:nvSpPr>
        <p:spPr>
          <a:xfrm>
            <a:off x="3886200" y="5157216"/>
            <a:ext cx="384048" cy="128016"/>
          </a:xfrm>
          <a:prstGeom prst="rect">
            <a:avLst/>
          </a:prstGeom>
          <a:noFill/>
          <a:ln/>
        </p:spPr>
        <p:txBody>
          <a:bodyPr wrap="square" lIns="0" tIns="0" rIns="0" bIns="0" rtlCol="0" anchor="ctr"/>
          <a:lstStyle/>
          <a:p>
            <a:pPr algn="ctr" indent="0" marL="0">
              <a:buNone/>
            </a:pPr>
            <a:r>
              <a:rPr lang="en-US" sz="800" b="1" dirty="0">
                <a:solidFill>
                  <a:srgbClr val="FFFFFF"/>
                </a:solidFill>
                <a:latin typeface="Aptos" pitchFamily="34" charset="0"/>
                <a:ea typeface="Aptos" pitchFamily="34" charset="-122"/>
                <a:cs typeface="Aptos" pitchFamily="34" charset="-120"/>
              </a:rPr>
              <a:t>3</a:t>
            </a:r>
            <a:endParaRPr lang="en-US" sz="800" dirty="0"/>
          </a:p>
        </p:txBody>
      </p:sp>
      <p:sp>
        <p:nvSpPr>
          <p:cNvPr id="21" name="Text 17"/>
          <p:cNvSpPr/>
          <p:nvPr/>
        </p:nvSpPr>
        <p:spPr>
          <a:xfrm>
            <a:off x="4389120" y="5102352"/>
            <a:ext cx="2377440" cy="292608"/>
          </a:xfrm>
          <a:prstGeom prst="rect">
            <a:avLst/>
          </a:prstGeom>
          <a:noFill/>
          <a:ln/>
        </p:spPr>
        <p:txBody>
          <a:bodyPr wrap="square" lIns="0" tIns="0" rIns="0" bIns="0" rtlCol="0" anchor="ctr"/>
          <a:lstStyle/>
          <a:p>
            <a:pPr indent="0" marL="0">
              <a:buNone/>
            </a:pPr>
            <a:r>
              <a:rPr lang="en-US" sz="1040" b="1" dirty="0">
                <a:solidFill>
                  <a:srgbClr val="1B2A28"/>
                </a:solidFill>
                <a:latin typeface="Aptos" pitchFamily="34" charset="0"/>
                <a:ea typeface="Aptos" pitchFamily="34" charset="-122"/>
                <a:cs typeface="Aptos" pitchFamily="34" charset="-120"/>
              </a:rPr>
              <a:t>CONNECT - facilitators &amp; venues</a:t>
            </a:r>
            <a:endParaRPr lang="en-US" sz="1040" dirty="0"/>
          </a:p>
        </p:txBody>
      </p:sp>
      <p:sp>
        <p:nvSpPr>
          <p:cNvPr id="22" name="Shape 18"/>
          <p:cNvSpPr/>
          <p:nvPr/>
        </p:nvSpPr>
        <p:spPr>
          <a:xfrm>
            <a:off x="6903720" y="5074920"/>
            <a:ext cx="384048" cy="384048"/>
          </a:xfrm>
          <a:prstGeom prst="ellipse">
            <a:avLst/>
          </a:prstGeom>
          <a:solidFill>
            <a:srgbClr val="1E7A78"/>
          </a:solidFill>
          <a:ln w="12700">
            <a:solidFill>
              <a:srgbClr val="1E7A78"/>
            </a:solidFill>
            <a:prstDash val="solid"/>
          </a:ln>
        </p:spPr>
      </p:sp>
      <p:sp>
        <p:nvSpPr>
          <p:cNvPr id="23" name="Text 19"/>
          <p:cNvSpPr/>
          <p:nvPr/>
        </p:nvSpPr>
        <p:spPr>
          <a:xfrm>
            <a:off x="6903720" y="5157216"/>
            <a:ext cx="384048" cy="128016"/>
          </a:xfrm>
          <a:prstGeom prst="rect">
            <a:avLst/>
          </a:prstGeom>
          <a:noFill/>
          <a:ln/>
        </p:spPr>
        <p:txBody>
          <a:bodyPr wrap="square" lIns="0" tIns="0" rIns="0" bIns="0" rtlCol="0" anchor="ctr"/>
          <a:lstStyle/>
          <a:p>
            <a:pPr algn="ctr" indent="0" marL="0">
              <a:buNone/>
            </a:pPr>
            <a:r>
              <a:rPr lang="en-US" sz="800" b="1" dirty="0">
                <a:solidFill>
                  <a:srgbClr val="FFFFFF"/>
                </a:solidFill>
                <a:latin typeface="Aptos" pitchFamily="34" charset="0"/>
                <a:ea typeface="Aptos" pitchFamily="34" charset="-122"/>
                <a:cs typeface="Aptos" pitchFamily="34" charset="-120"/>
              </a:rPr>
              <a:t>4</a:t>
            </a:r>
            <a:endParaRPr lang="en-US" sz="800" dirty="0"/>
          </a:p>
        </p:txBody>
      </p:sp>
      <p:sp>
        <p:nvSpPr>
          <p:cNvPr id="24" name="Text 20"/>
          <p:cNvSpPr/>
          <p:nvPr/>
        </p:nvSpPr>
        <p:spPr>
          <a:xfrm>
            <a:off x="7406640" y="5102352"/>
            <a:ext cx="2377440" cy="292608"/>
          </a:xfrm>
          <a:prstGeom prst="rect">
            <a:avLst/>
          </a:prstGeom>
          <a:noFill/>
          <a:ln/>
        </p:spPr>
        <p:txBody>
          <a:bodyPr wrap="square" lIns="0" tIns="0" rIns="0" bIns="0" rtlCol="0" anchor="ctr"/>
          <a:lstStyle/>
          <a:p>
            <a:pPr indent="0" marL="0">
              <a:buNone/>
            </a:pPr>
            <a:r>
              <a:rPr lang="en-US" sz="1040" b="1" dirty="0">
                <a:solidFill>
                  <a:srgbClr val="1B2A28"/>
                </a:solidFill>
                <a:latin typeface="Aptos" pitchFamily="34" charset="0"/>
                <a:ea typeface="Aptos" pitchFamily="34" charset="-122"/>
                <a:cs typeface="Aptos" pitchFamily="34" charset="-120"/>
              </a:rPr>
              <a:t>LEARN - community</a:t>
            </a:r>
            <a:endParaRPr lang="en-US" sz="1040" dirty="0"/>
          </a:p>
        </p:txBody>
      </p:sp>
      <p:sp>
        <p:nvSpPr>
          <p:cNvPr id="25" name="Text 21"/>
          <p:cNvSpPr/>
          <p:nvPr/>
        </p:nvSpPr>
        <p:spPr>
          <a:xfrm>
            <a:off x="502920" y="6510528"/>
            <a:ext cx="5029200" cy="164592"/>
          </a:xfrm>
          <a:prstGeom prst="rect">
            <a:avLst/>
          </a:prstGeom>
          <a:noFill/>
          <a:ln/>
        </p:spPr>
        <p:txBody>
          <a:bodyPr wrap="square" lIns="0" tIns="0" rIns="0" bIns="0" rtlCol="0" anchor="ctr"/>
          <a:lstStyle/>
          <a:p>
            <a:pPr indent="0" marL="0">
              <a:buNone/>
            </a:pPr>
            <a:r>
              <a:rPr lang="en-US" sz="750" dirty="0">
                <a:solidFill>
                  <a:srgbClr val="7C8680"/>
                </a:solidFill>
                <a:latin typeface="Aptos" pitchFamily="34" charset="0"/>
                <a:ea typeface="Aptos" pitchFamily="34" charset="-122"/>
                <a:cs typeface="Aptos" pitchFamily="34" charset="-120"/>
              </a:rPr>
              <a:t>SpiritualRetreats.network  |  Brand Portfolio</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2E7"/>
        </a:solidFill>
      </p:bgPr>
    </p:bg>
    <p:spTree>
      <p:nvGrpSpPr>
        <p:cNvPr id="1" name=""/>
        <p:cNvGrpSpPr/>
        <p:nvPr/>
      </p:nvGrpSpPr>
      <p:grpSpPr>
        <a:xfrm>
          <a:off x="0" y="0"/>
          <a:ext cx="0" cy="0"/>
          <a:chOff x="0" y="0"/>
          <a:chExt cx="0" cy="0"/>
        </a:xfrm>
      </p:grpSpPr>
      <p:sp>
        <p:nvSpPr>
          <p:cNvPr id="2" name="Text 0"/>
          <p:cNvSpPr/>
          <p:nvPr/>
        </p:nvSpPr>
        <p:spPr>
          <a:xfrm>
            <a:off x="502920" y="320040"/>
            <a:ext cx="1005840" cy="320040"/>
          </a:xfrm>
          <a:prstGeom prst="rect">
            <a:avLst/>
          </a:prstGeom>
          <a:noFill/>
          <a:ln/>
        </p:spPr>
        <p:txBody>
          <a:bodyPr wrap="square" lIns="0" tIns="0" rIns="0" bIns="0" rtlCol="0" anchor="ctr"/>
          <a:lstStyle/>
          <a:p>
            <a:pPr indent="0" marL="0">
              <a:buNone/>
            </a:pPr>
            <a:r>
              <a:rPr lang="en-US" sz="1200" b="1" dirty="0">
                <a:solidFill>
                  <a:srgbClr val="D9A233"/>
                </a:solidFill>
                <a:latin typeface="Aptos" pitchFamily="34" charset="0"/>
                <a:ea typeface="Aptos" pitchFamily="34" charset="-122"/>
                <a:cs typeface="Aptos" pitchFamily="34" charset="-120"/>
              </a:rPr>
              <a:t>08</a:t>
            </a:r>
            <a:endParaRPr lang="en-US" sz="1200" dirty="0"/>
          </a:p>
        </p:txBody>
      </p:sp>
      <p:sp>
        <p:nvSpPr>
          <p:cNvPr id="3" name="Text 1"/>
          <p:cNvSpPr/>
          <p:nvPr/>
        </p:nvSpPr>
        <p:spPr>
          <a:xfrm>
            <a:off x="502920" y="658368"/>
            <a:ext cx="8046720" cy="502920"/>
          </a:xfrm>
          <a:prstGeom prst="rect">
            <a:avLst/>
          </a:prstGeom>
          <a:noFill/>
          <a:ln/>
        </p:spPr>
        <p:txBody>
          <a:bodyPr wrap="square" lIns="0" tIns="0" rIns="0" bIns="0" rtlCol="0" anchor="ctr"/>
          <a:lstStyle/>
          <a:p>
            <a:pPr indent="0" marL="0">
              <a:buNone/>
            </a:pPr>
            <a:r>
              <a:rPr lang="en-US" sz="2800" b="1" dirty="0">
                <a:solidFill>
                  <a:srgbClr val="0B4A36"/>
                </a:solidFill>
                <a:latin typeface="Georgia" pitchFamily="34" charset="0"/>
                <a:ea typeface="Georgia" pitchFamily="34" charset="-122"/>
                <a:cs typeface="Georgia" pitchFamily="34" charset="-120"/>
              </a:rPr>
              <a:t>Layout System</a:t>
            </a:r>
            <a:endParaRPr lang="en-US" sz="2800" dirty="0"/>
          </a:p>
        </p:txBody>
      </p:sp>
      <p:sp>
        <p:nvSpPr>
          <p:cNvPr id="4" name="Text 2"/>
          <p:cNvSpPr/>
          <p:nvPr/>
        </p:nvSpPr>
        <p:spPr>
          <a:xfrm>
            <a:off x="502920" y="1170432"/>
            <a:ext cx="8778240" cy="301752"/>
          </a:xfrm>
          <a:prstGeom prst="rect">
            <a:avLst/>
          </a:prstGeom>
          <a:noFill/>
          <a:ln/>
        </p:spPr>
        <p:txBody>
          <a:bodyPr wrap="square" lIns="0" tIns="0" rIns="0" bIns="0" rtlCol="0" anchor="ctr"/>
          <a:lstStyle/>
          <a:p>
            <a:pPr indent="0" marL="0">
              <a:buNone/>
            </a:pPr>
            <a:r>
              <a:rPr lang="en-US" sz="1250" dirty="0">
                <a:solidFill>
                  <a:srgbClr val="B77938"/>
                </a:solidFill>
                <a:latin typeface="Aptos" pitchFamily="34" charset="0"/>
                <a:ea typeface="Aptos" pitchFamily="34" charset="-122"/>
                <a:cs typeface="Aptos" pitchFamily="34" charset="-120"/>
              </a:rPr>
              <a:t>Spacious, editorial, human, and easy to understand in five seconds.</a:t>
            </a:r>
            <a:endParaRPr lang="en-US" sz="1250" dirty="0"/>
          </a:p>
        </p:txBody>
      </p:sp>
      <p:sp>
        <p:nvSpPr>
          <p:cNvPr id="5" name="Shape 3"/>
          <p:cNvSpPr/>
          <p:nvPr/>
        </p:nvSpPr>
        <p:spPr>
          <a:xfrm>
            <a:off x="502920" y="1581912"/>
            <a:ext cx="1920240" cy="0"/>
          </a:xfrm>
          <a:prstGeom prst="line">
            <a:avLst/>
          </a:prstGeom>
          <a:noFill/>
          <a:ln w="15240">
            <a:solidFill>
              <a:srgbClr val="D9A233"/>
            </a:solidFill>
            <a:prstDash val="solid"/>
          </a:ln>
        </p:spPr>
      </p:sp>
      <p:pic>
        <p:nvPicPr>
          <p:cNvPr id="6" name="Image 0" descr="/mnt/data/SpiritualRetreats_assets/logo_mark_geometry_lotus.png">    </p:cNvPr>
          <p:cNvPicPr>
            <a:picLocks noChangeAspect="1"/>
          </p:cNvPicPr>
          <p:nvPr/>
        </p:nvPicPr>
        <p:blipFill>
          <a:blip r:embed="rId1"/>
          <a:srcRect l="0" r="0" t="9774" b="9774"/>
          <a:stretch/>
        </p:blipFill>
        <p:spPr>
          <a:xfrm>
            <a:off x="10789920" y="228600"/>
            <a:ext cx="777240" cy="777240"/>
          </a:xfrm>
          <a:prstGeom prst="rect">
            <a:avLst/>
          </a:prstGeom>
        </p:spPr>
      </p:pic>
      <p:pic>
        <p:nvPicPr>
          <p:cNvPr id="7" name="Image 1" descr="/mnt/data/retreat_pdf_renders/page-01.png">    </p:cNvPr>
          <p:cNvPicPr>
            <a:picLocks noChangeAspect="1"/>
          </p:cNvPicPr>
          <p:nvPr/>
        </p:nvPicPr>
        <p:blipFill>
          <a:blip r:embed="rId2"/>
          <a:srcRect l="0" r="0" t="249" b="249"/>
          <a:stretch/>
        </p:blipFill>
        <p:spPr>
          <a:xfrm>
            <a:off x="685800" y="1828800"/>
            <a:ext cx="3063240" cy="2286000"/>
          </a:xfrm>
          <a:prstGeom prst="rect">
            <a:avLst/>
          </a:prstGeom>
        </p:spPr>
      </p:pic>
      <p:pic>
        <p:nvPicPr>
          <p:cNvPr id="8" name="Image 2" descr="/mnt/data/retreat_pdf_renders/page-05.png">    </p:cNvPr>
          <p:cNvPicPr>
            <a:picLocks noChangeAspect="1"/>
          </p:cNvPicPr>
          <p:nvPr/>
        </p:nvPicPr>
        <p:blipFill>
          <a:blip r:embed="rId3"/>
          <a:srcRect l="0" r="0" t="249" b="249"/>
          <a:stretch/>
        </p:blipFill>
        <p:spPr>
          <a:xfrm>
            <a:off x="4160520" y="1828800"/>
            <a:ext cx="3063240" cy="2286000"/>
          </a:xfrm>
          <a:prstGeom prst="rect">
            <a:avLst/>
          </a:prstGeom>
        </p:spPr>
      </p:pic>
      <p:pic>
        <p:nvPicPr>
          <p:cNvPr id="9" name="Image 3" descr="/mnt/data/retreat_pdf_renders/page-07.png">    </p:cNvPr>
          <p:cNvPicPr>
            <a:picLocks noChangeAspect="1"/>
          </p:cNvPicPr>
          <p:nvPr/>
        </p:nvPicPr>
        <p:blipFill>
          <a:blip r:embed="rId4"/>
          <a:srcRect l="0" r="0" t="249" b="249"/>
          <a:stretch/>
        </p:blipFill>
        <p:spPr>
          <a:xfrm>
            <a:off x="7635240" y="1828800"/>
            <a:ext cx="3063240" cy="2286000"/>
          </a:xfrm>
          <a:prstGeom prst="rect">
            <a:avLst/>
          </a:prstGeom>
        </p:spPr>
      </p:pic>
      <p:sp>
        <p:nvSpPr>
          <p:cNvPr id="10" name="Text 4"/>
          <p:cNvSpPr/>
          <p:nvPr/>
        </p:nvSpPr>
        <p:spPr>
          <a:xfrm>
            <a:off x="685800" y="4617720"/>
            <a:ext cx="3474720" cy="274320"/>
          </a:xfrm>
          <a:prstGeom prst="rect">
            <a:avLst/>
          </a:prstGeom>
          <a:noFill/>
          <a:ln/>
        </p:spPr>
        <p:txBody>
          <a:bodyPr wrap="square" lIns="0" tIns="0" rIns="0" bIns="0" rtlCol="0" anchor="ctr"/>
          <a:lstStyle/>
          <a:p>
            <a:pPr indent="0" marL="0">
              <a:buNone/>
            </a:pPr>
            <a:r>
              <a:rPr lang="en-US" sz="1600" b="1" dirty="0">
                <a:solidFill>
                  <a:srgbClr val="0B4A36"/>
                </a:solidFill>
                <a:latin typeface="Georgia" pitchFamily="34" charset="0"/>
                <a:ea typeface="Georgia" pitchFamily="34" charset="-122"/>
                <a:cs typeface="Georgia" pitchFamily="34" charset="-120"/>
              </a:rPr>
              <a:t>Keep from the current deck</a:t>
            </a:r>
            <a:endParaRPr lang="en-US" sz="1600" dirty="0"/>
          </a:p>
        </p:txBody>
      </p:sp>
      <p:sp>
        <p:nvSpPr>
          <p:cNvPr id="11" name="Text 5"/>
          <p:cNvSpPr/>
          <p:nvPr/>
        </p:nvSpPr>
        <p:spPr>
          <a:xfrm>
            <a:off x="685800" y="5029200"/>
            <a:ext cx="4297680" cy="502920"/>
          </a:xfrm>
          <a:prstGeom prst="rect">
            <a:avLst/>
          </a:prstGeom>
          <a:noFill/>
          <a:ln/>
        </p:spPr>
        <p:txBody>
          <a:bodyPr wrap="square" lIns="0" tIns="0" rIns="0" bIns="0" rtlCol="0" anchor="ctr"/>
          <a:lstStyle/>
          <a:p>
            <a:pPr indent="0" marL="0">
              <a:buNone/>
            </a:pPr>
            <a:r>
              <a:rPr lang="en-US" sz="1100" dirty="0">
                <a:solidFill>
                  <a:srgbClr val="1B2A28"/>
                </a:solidFill>
                <a:latin typeface="Aptos" pitchFamily="34" charset="0"/>
                <a:ea typeface="Aptos" pitchFamily="34" charset="-122"/>
                <a:cs typeface="Aptos" pitchFamily="34" charset="-120"/>
              </a:rPr>
              <a:t>The cream base, forest green headlines, gold details, and clear four-pillar structure already work beautifully.</a:t>
            </a:r>
            <a:endParaRPr lang="en-US" sz="1100" dirty="0"/>
          </a:p>
        </p:txBody>
      </p:sp>
      <p:sp>
        <p:nvSpPr>
          <p:cNvPr id="12" name="Text 6"/>
          <p:cNvSpPr/>
          <p:nvPr/>
        </p:nvSpPr>
        <p:spPr>
          <a:xfrm>
            <a:off x="5623560" y="4617720"/>
            <a:ext cx="3474720" cy="274320"/>
          </a:xfrm>
          <a:prstGeom prst="rect">
            <a:avLst/>
          </a:prstGeom>
          <a:noFill/>
          <a:ln/>
        </p:spPr>
        <p:txBody>
          <a:bodyPr wrap="square" lIns="0" tIns="0" rIns="0" bIns="0" rtlCol="0" anchor="ctr"/>
          <a:lstStyle/>
          <a:p>
            <a:pPr indent="0" marL="0">
              <a:buNone/>
            </a:pPr>
            <a:r>
              <a:rPr lang="en-US" sz="1600" b="1" dirty="0">
                <a:solidFill>
                  <a:srgbClr val="0B4A36"/>
                </a:solidFill>
                <a:latin typeface="Georgia" pitchFamily="34" charset="0"/>
                <a:ea typeface="Georgia" pitchFamily="34" charset="-122"/>
                <a:cs typeface="Georgia" pitchFamily="34" charset="-120"/>
              </a:rPr>
              <a:t>Upgrade with the new logo</a:t>
            </a:r>
            <a:endParaRPr lang="en-US" sz="1600" dirty="0"/>
          </a:p>
        </p:txBody>
      </p:sp>
      <p:sp>
        <p:nvSpPr>
          <p:cNvPr id="13" name="Text 7"/>
          <p:cNvSpPr/>
          <p:nvPr/>
        </p:nvSpPr>
        <p:spPr>
          <a:xfrm>
            <a:off x="5623560" y="5029200"/>
            <a:ext cx="4297680" cy="502920"/>
          </a:xfrm>
          <a:prstGeom prst="rect">
            <a:avLst/>
          </a:prstGeom>
          <a:noFill/>
          <a:ln/>
        </p:spPr>
        <p:txBody>
          <a:bodyPr wrap="square" lIns="0" tIns="0" rIns="0" bIns="0" rtlCol="0" anchor="ctr"/>
          <a:lstStyle/>
          <a:p>
            <a:pPr indent="0" marL="0">
              <a:buNone/>
            </a:pPr>
            <a:r>
              <a:rPr lang="en-US" sz="1100" dirty="0">
                <a:solidFill>
                  <a:srgbClr val="1B2A28"/>
                </a:solidFill>
                <a:latin typeface="Aptos" pitchFamily="34" charset="0"/>
                <a:ea typeface="Aptos" pitchFamily="34" charset="-122"/>
                <a:cs typeface="Aptos" pitchFamily="34" charset="-120"/>
              </a:rPr>
              <a:t>Use the deep blue and gold lotus for covers, signature pages, ceremonial transitions, and premium moments.</a:t>
            </a:r>
            <a:endParaRPr lang="en-US" sz="1100" dirty="0"/>
          </a:p>
        </p:txBody>
      </p:sp>
      <p:sp>
        <p:nvSpPr>
          <p:cNvPr id="14" name="Text 8"/>
          <p:cNvSpPr/>
          <p:nvPr/>
        </p:nvSpPr>
        <p:spPr>
          <a:xfrm>
            <a:off x="502920" y="6510528"/>
            <a:ext cx="5029200" cy="164592"/>
          </a:xfrm>
          <a:prstGeom prst="rect">
            <a:avLst/>
          </a:prstGeom>
          <a:noFill/>
          <a:ln/>
        </p:spPr>
        <p:txBody>
          <a:bodyPr wrap="square" lIns="0" tIns="0" rIns="0" bIns="0" rtlCol="0" anchor="ctr"/>
          <a:lstStyle/>
          <a:p>
            <a:pPr indent="0" marL="0">
              <a:buNone/>
            </a:pPr>
            <a:r>
              <a:rPr lang="en-US" sz="750" dirty="0">
                <a:solidFill>
                  <a:srgbClr val="7C8680"/>
                </a:solidFill>
                <a:latin typeface="Aptos" pitchFamily="34" charset="0"/>
                <a:ea typeface="Aptos" pitchFamily="34" charset="-122"/>
                <a:cs typeface="Aptos" pitchFamily="34" charset="-120"/>
              </a:rPr>
              <a:t>SpiritualRetreats.network  |  Brand Portfolio</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7EE"/>
        </a:solidFill>
      </p:bgPr>
    </p:bg>
    <p:spTree>
      <p:nvGrpSpPr>
        <p:cNvPr id="1" name=""/>
        <p:cNvGrpSpPr/>
        <p:nvPr/>
      </p:nvGrpSpPr>
      <p:grpSpPr>
        <a:xfrm>
          <a:off x="0" y="0"/>
          <a:ext cx="0" cy="0"/>
          <a:chOff x="0" y="0"/>
          <a:chExt cx="0" cy="0"/>
        </a:xfrm>
      </p:grpSpPr>
      <p:sp>
        <p:nvSpPr>
          <p:cNvPr id="2" name="Text 0"/>
          <p:cNvSpPr/>
          <p:nvPr/>
        </p:nvSpPr>
        <p:spPr>
          <a:xfrm>
            <a:off x="502920" y="320040"/>
            <a:ext cx="1005840" cy="320040"/>
          </a:xfrm>
          <a:prstGeom prst="rect">
            <a:avLst/>
          </a:prstGeom>
          <a:noFill/>
          <a:ln/>
        </p:spPr>
        <p:txBody>
          <a:bodyPr wrap="square" lIns="0" tIns="0" rIns="0" bIns="0" rtlCol="0" anchor="ctr"/>
          <a:lstStyle/>
          <a:p>
            <a:pPr indent="0" marL="0">
              <a:buNone/>
            </a:pPr>
            <a:r>
              <a:rPr lang="en-US" sz="1200" b="1" dirty="0">
                <a:solidFill>
                  <a:srgbClr val="D9A233"/>
                </a:solidFill>
                <a:latin typeface="Aptos" pitchFamily="34" charset="0"/>
                <a:ea typeface="Aptos" pitchFamily="34" charset="-122"/>
                <a:cs typeface="Aptos" pitchFamily="34" charset="-120"/>
              </a:rPr>
              <a:t>09</a:t>
            </a:r>
            <a:endParaRPr lang="en-US" sz="1200" dirty="0"/>
          </a:p>
        </p:txBody>
      </p:sp>
      <p:sp>
        <p:nvSpPr>
          <p:cNvPr id="3" name="Text 1"/>
          <p:cNvSpPr/>
          <p:nvPr/>
        </p:nvSpPr>
        <p:spPr>
          <a:xfrm>
            <a:off x="502920" y="658368"/>
            <a:ext cx="8046720" cy="502920"/>
          </a:xfrm>
          <a:prstGeom prst="rect">
            <a:avLst/>
          </a:prstGeom>
          <a:noFill/>
          <a:ln/>
        </p:spPr>
        <p:txBody>
          <a:bodyPr wrap="square" lIns="0" tIns="0" rIns="0" bIns="0" rtlCol="0" anchor="ctr"/>
          <a:lstStyle/>
          <a:p>
            <a:pPr indent="0" marL="0">
              <a:buNone/>
            </a:pPr>
            <a:r>
              <a:rPr lang="en-US" sz="2800" b="1" dirty="0">
                <a:solidFill>
                  <a:srgbClr val="0B4A36"/>
                </a:solidFill>
                <a:latin typeface="Georgia" pitchFamily="34" charset="0"/>
                <a:ea typeface="Georgia" pitchFamily="34" charset="-122"/>
                <a:cs typeface="Georgia" pitchFamily="34" charset="-120"/>
              </a:rPr>
              <a:t>Brand Voice</a:t>
            </a:r>
            <a:endParaRPr lang="en-US" sz="2800" dirty="0"/>
          </a:p>
        </p:txBody>
      </p:sp>
      <p:sp>
        <p:nvSpPr>
          <p:cNvPr id="4" name="Text 2"/>
          <p:cNvSpPr/>
          <p:nvPr/>
        </p:nvSpPr>
        <p:spPr>
          <a:xfrm>
            <a:off x="502920" y="1170432"/>
            <a:ext cx="8778240" cy="301752"/>
          </a:xfrm>
          <a:prstGeom prst="rect">
            <a:avLst/>
          </a:prstGeom>
          <a:noFill/>
          <a:ln/>
        </p:spPr>
        <p:txBody>
          <a:bodyPr wrap="square" lIns="0" tIns="0" rIns="0" bIns="0" rtlCol="0" anchor="ctr"/>
          <a:lstStyle/>
          <a:p>
            <a:pPr indent="0" marL="0">
              <a:buNone/>
            </a:pPr>
            <a:r>
              <a:rPr lang="en-US" sz="1250" dirty="0">
                <a:solidFill>
                  <a:srgbClr val="B77938"/>
                </a:solidFill>
                <a:latin typeface="Aptos" pitchFamily="34" charset="0"/>
                <a:ea typeface="Aptos" pitchFamily="34" charset="-122"/>
                <a:cs typeface="Aptos" pitchFamily="34" charset="-120"/>
              </a:rPr>
              <a:t>Warm, wise, simple, human, and welcoming across many spiritual paths.</a:t>
            </a:r>
            <a:endParaRPr lang="en-US" sz="1250" dirty="0"/>
          </a:p>
        </p:txBody>
      </p:sp>
      <p:sp>
        <p:nvSpPr>
          <p:cNvPr id="5" name="Shape 3"/>
          <p:cNvSpPr/>
          <p:nvPr/>
        </p:nvSpPr>
        <p:spPr>
          <a:xfrm>
            <a:off x="502920" y="1581912"/>
            <a:ext cx="1920240" cy="0"/>
          </a:xfrm>
          <a:prstGeom prst="line">
            <a:avLst/>
          </a:prstGeom>
          <a:noFill/>
          <a:ln w="15240">
            <a:solidFill>
              <a:srgbClr val="D9A233"/>
            </a:solidFill>
            <a:prstDash val="solid"/>
          </a:ln>
        </p:spPr>
      </p:sp>
      <p:pic>
        <p:nvPicPr>
          <p:cNvPr id="6" name="Image 0" descr="/mnt/data/SpiritualRetreats_assets/logo_mark_geometry_lotus.png">    </p:cNvPr>
          <p:cNvPicPr>
            <a:picLocks noChangeAspect="1"/>
          </p:cNvPicPr>
          <p:nvPr/>
        </p:nvPicPr>
        <p:blipFill>
          <a:blip r:embed="rId1"/>
          <a:srcRect l="0" r="0" t="9774" b="9774"/>
          <a:stretch/>
        </p:blipFill>
        <p:spPr>
          <a:xfrm>
            <a:off x="10789920" y="228600"/>
            <a:ext cx="777240" cy="777240"/>
          </a:xfrm>
          <a:prstGeom prst="rect">
            <a:avLst/>
          </a:prstGeom>
        </p:spPr>
      </p:pic>
      <p:sp>
        <p:nvSpPr>
          <p:cNvPr id="7" name="Text 4"/>
          <p:cNvSpPr/>
          <p:nvPr/>
        </p:nvSpPr>
        <p:spPr>
          <a:xfrm>
            <a:off x="777240" y="1874520"/>
            <a:ext cx="4709160" cy="320040"/>
          </a:xfrm>
          <a:prstGeom prst="rect">
            <a:avLst/>
          </a:prstGeom>
          <a:noFill/>
          <a:ln/>
        </p:spPr>
        <p:txBody>
          <a:bodyPr wrap="square" lIns="0" tIns="0" rIns="0" bIns="0" rtlCol="0" anchor="ctr"/>
          <a:lstStyle/>
          <a:p>
            <a:pPr indent="0" marL="0">
              <a:buNone/>
            </a:pPr>
            <a:r>
              <a:rPr lang="en-US" sz="1800" b="1" dirty="0">
                <a:solidFill>
                  <a:srgbClr val="0B4A36"/>
                </a:solidFill>
                <a:latin typeface="Georgia" pitchFamily="34" charset="0"/>
                <a:ea typeface="Georgia" pitchFamily="34" charset="-122"/>
                <a:cs typeface="Georgia" pitchFamily="34" charset="-120"/>
              </a:rPr>
              <a:t>Voice principles</a:t>
            </a:r>
            <a:endParaRPr lang="en-US" sz="1800" dirty="0"/>
          </a:p>
        </p:txBody>
      </p:sp>
      <p:sp>
        <p:nvSpPr>
          <p:cNvPr id="8" name="Text 5"/>
          <p:cNvSpPr/>
          <p:nvPr/>
        </p:nvSpPr>
        <p:spPr>
          <a:xfrm>
            <a:off x="777240" y="2286000"/>
            <a:ext cx="4709160" cy="1874520"/>
          </a:xfrm>
          <a:prstGeom prst="rect">
            <a:avLst/>
          </a:prstGeom>
          <a:noFill/>
          <a:ln/>
        </p:spPr>
        <p:txBody>
          <a:bodyPr wrap="square" lIns="254" tIns="254" rIns="254" bIns="254" rtlCol="0" anchor="t">
            <a:normAutofit/>
          </a:bodyPr>
          <a:lstStyle/>
          <a:p>
            <a:r>
              <a:rPr lang="en-US" sz="1150" dirty="0">
                <a:solidFill>
                  <a:srgbClr val="1B2A28"/>
                </a:solidFill>
                <a:latin typeface="Aptos" pitchFamily="34" charset="0"/>
                <a:ea typeface="Aptos" pitchFamily="34" charset="-122"/>
                <a:cs typeface="Aptos" pitchFamily="34" charset="-120"/>
              </a:rPr>
              <a:t>Professional without becoming cold or transactional.
</a:t>
            </a:r>
            <a:endParaRPr lang="en-US" sz="1150" dirty="0"/>
          </a:p>
          <a:p>
            <a:r>
              <a:rPr lang="en-US" sz="1150" dirty="0">
                <a:solidFill>
                  <a:srgbClr val="1B2A28"/>
                </a:solidFill>
                <a:latin typeface="Aptos" pitchFamily="34" charset="0"/>
                <a:ea typeface="Aptos" pitchFamily="34" charset="-122"/>
                <a:cs typeface="Aptos" pitchFamily="34" charset="-120"/>
              </a:rPr>
              <a:t>Spiritual without becoming vague, dogmatic, or exaggerated.
</a:t>
            </a:r>
            <a:endParaRPr lang="en-US" sz="1150" dirty="0"/>
          </a:p>
          <a:p>
            <a:r>
              <a:rPr lang="en-US" sz="1150" dirty="0">
                <a:solidFill>
                  <a:srgbClr val="1B2A28"/>
                </a:solidFill>
                <a:latin typeface="Aptos" pitchFamily="34" charset="0"/>
                <a:ea typeface="Aptos" pitchFamily="34" charset="-122"/>
                <a:cs typeface="Aptos" pitchFamily="34" charset="-120"/>
              </a:rPr>
              <a:t>Supportive and human, always making the next step clear.
</a:t>
            </a:r>
            <a:endParaRPr lang="en-US" sz="1150" dirty="0"/>
          </a:p>
          <a:p>
            <a:r>
              <a:rPr lang="en-US" sz="1150" dirty="0">
                <a:solidFill>
                  <a:srgbClr val="1B2A28"/>
                </a:solidFill>
                <a:latin typeface="Aptos" pitchFamily="34" charset="0"/>
                <a:ea typeface="Aptos" pitchFamily="34" charset="-122"/>
                <a:cs typeface="Aptos" pitchFamily="34" charset="-120"/>
              </a:rPr>
              <a:t>Trust-building: clear terms, transparent process, respectful language.
</a:t>
            </a:r>
            <a:endParaRPr lang="en-US" sz="1150" dirty="0"/>
          </a:p>
          <a:p>
            <a:r>
              <a:rPr lang="en-US" sz="1150" dirty="0">
                <a:solidFill>
                  <a:srgbClr val="1B2A28"/>
                </a:solidFill>
                <a:latin typeface="Aptos" pitchFamily="34" charset="0"/>
                <a:ea typeface="Aptos" pitchFamily="34" charset="-122"/>
                <a:cs typeface="Aptos" pitchFamily="34" charset="-120"/>
              </a:rPr>
              <a:t>Global and inclusive: many paths, one purpose.</a:t>
            </a:r>
            <a:endParaRPr lang="en-US" sz="1150" dirty="0"/>
          </a:p>
        </p:txBody>
      </p:sp>
      <p:sp>
        <p:nvSpPr>
          <p:cNvPr id="9" name="Text 6"/>
          <p:cNvSpPr/>
          <p:nvPr/>
        </p:nvSpPr>
        <p:spPr>
          <a:xfrm>
            <a:off x="6446520" y="1901952"/>
            <a:ext cx="4297680" cy="292608"/>
          </a:xfrm>
          <a:prstGeom prst="rect">
            <a:avLst/>
          </a:prstGeom>
          <a:noFill/>
          <a:ln/>
        </p:spPr>
        <p:txBody>
          <a:bodyPr wrap="square" lIns="0" tIns="0" rIns="0" bIns="0" rtlCol="0" anchor="ctr"/>
          <a:lstStyle/>
          <a:p>
            <a:pPr indent="0" marL="0">
              <a:buNone/>
            </a:pPr>
            <a:r>
              <a:rPr lang="en-US" sz="1700" b="1" dirty="0">
                <a:solidFill>
                  <a:srgbClr val="0B4A36"/>
                </a:solidFill>
                <a:latin typeface="Georgia" pitchFamily="34" charset="0"/>
                <a:ea typeface="Georgia" pitchFamily="34" charset="-122"/>
                <a:cs typeface="Georgia" pitchFamily="34" charset="-120"/>
              </a:rPr>
              <a:t>Example headline</a:t>
            </a:r>
            <a:endParaRPr lang="en-US" sz="1700" dirty="0"/>
          </a:p>
        </p:txBody>
      </p:sp>
      <p:sp>
        <p:nvSpPr>
          <p:cNvPr id="10" name="Text 7"/>
          <p:cNvSpPr/>
          <p:nvPr/>
        </p:nvSpPr>
        <p:spPr>
          <a:xfrm>
            <a:off x="6446520" y="2286000"/>
            <a:ext cx="4297680" cy="484632"/>
          </a:xfrm>
          <a:prstGeom prst="rect">
            <a:avLst/>
          </a:prstGeom>
          <a:noFill/>
          <a:ln/>
        </p:spPr>
        <p:txBody>
          <a:bodyPr wrap="square" lIns="381" tIns="381" rIns="381" bIns="381" rtlCol="0" anchor="t">
            <a:normAutofit/>
          </a:bodyPr>
          <a:lstStyle/>
          <a:p>
            <a:pPr indent="0" marL="0">
              <a:buNone/>
            </a:pPr>
            <a:r>
              <a:rPr lang="en-US" sz="1400" dirty="0">
                <a:solidFill>
                  <a:srgbClr val="1B2A28"/>
                </a:solidFill>
                <a:latin typeface="Aptos" pitchFamily="34" charset="0"/>
                <a:ea typeface="Aptos" pitchFamily="34" charset="-122"/>
                <a:cs typeface="Aptos" pitchFamily="34" charset="-120"/>
              </a:rPr>
              <a:t>Find the retreat that is truly right for you.</a:t>
            </a:r>
            <a:endParaRPr lang="en-US" sz="1400" dirty="0"/>
          </a:p>
        </p:txBody>
      </p:sp>
      <p:sp>
        <p:nvSpPr>
          <p:cNvPr id="11" name="Text 8"/>
          <p:cNvSpPr/>
          <p:nvPr/>
        </p:nvSpPr>
        <p:spPr>
          <a:xfrm>
            <a:off x="6446520" y="3246120"/>
            <a:ext cx="4297680" cy="292608"/>
          </a:xfrm>
          <a:prstGeom prst="rect">
            <a:avLst/>
          </a:prstGeom>
          <a:noFill/>
          <a:ln/>
        </p:spPr>
        <p:txBody>
          <a:bodyPr wrap="square" lIns="0" tIns="0" rIns="0" bIns="0" rtlCol="0" anchor="ctr"/>
          <a:lstStyle/>
          <a:p>
            <a:pPr indent="0" marL="0">
              <a:buNone/>
            </a:pPr>
            <a:r>
              <a:rPr lang="en-US" sz="1700" b="1" dirty="0">
                <a:solidFill>
                  <a:srgbClr val="0B4A36"/>
                </a:solidFill>
                <a:latin typeface="Georgia" pitchFamily="34" charset="0"/>
                <a:ea typeface="Georgia" pitchFamily="34" charset="-122"/>
                <a:cs typeface="Georgia" pitchFamily="34" charset="-120"/>
              </a:rPr>
              <a:t>Example support line</a:t>
            </a:r>
            <a:endParaRPr lang="en-US" sz="1700" dirty="0"/>
          </a:p>
        </p:txBody>
      </p:sp>
      <p:sp>
        <p:nvSpPr>
          <p:cNvPr id="12" name="Text 9"/>
          <p:cNvSpPr/>
          <p:nvPr/>
        </p:nvSpPr>
        <p:spPr>
          <a:xfrm>
            <a:off x="6446520" y="3630168"/>
            <a:ext cx="4297680" cy="576072"/>
          </a:xfrm>
          <a:prstGeom prst="rect">
            <a:avLst/>
          </a:prstGeom>
          <a:noFill/>
          <a:ln/>
        </p:spPr>
        <p:txBody>
          <a:bodyPr wrap="square" lIns="381" tIns="381" rIns="381" bIns="381" rtlCol="0" anchor="t">
            <a:normAutofit/>
          </a:bodyPr>
          <a:lstStyle/>
          <a:p>
            <a:pPr indent="0" marL="0">
              <a:buNone/>
            </a:pPr>
            <a:r>
              <a:rPr lang="en-US" sz="1130" dirty="0">
                <a:solidFill>
                  <a:srgbClr val="1B2A28"/>
                </a:solidFill>
                <a:latin typeface="Aptos" pitchFamily="34" charset="0"/>
                <a:ea typeface="Aptos" pitchFamily="34" charset="-122"/>
                <a:cs typeface="Aptos" pitchFamily="34" charset="-120"/>
              </a:rPr>
              <a:t>Tell us what you are seeking, where you feel called to go, and what kind of transformation you are ready for. We will help you discover retreat options that fit your path.</a:t>
            </a:r>
            <a:endParaRPr lang="en-US" sz="1130" dirty="0"/>
          </a:p>
        </p:txBody>
      </p:sp>
      <p:sp>
        <p:nvSpPr>
          <p:cNvPr id="13" name="Text 10"/>
          <p:cNvSpPr/>
          <p:nvPr/>
        </p:nvSpPr>
        <p:spPr>
          <a:xfrm>
            <a:off x="777240" y="5074920"/>
            <a:ext cx="9875520" cy="301752"/>
          </a:xfrm>
          <a:prstGeom prst="rect">
            <a:avLst/>
          </a:prstGeom>
          <a:noFill/>
          <a:ln/>
        </p:spPr>
        <p:txBody>
          <a:bodyPr wrap="square" lIns="0" tIns="0" rIns="0" bIns="0" rtlCol="0" anchor="ctr"/>
          <a:lstStyle/>
          <a:p>
            <a:pPr indent="0" marL="0">
              <a:buNone/>
            </a:pPr>
            <a:r>
              <a:rPr lang="en-US" sz="1150" b="1" dirty="0">
                <a:solidFill>
                  <a:srgbClr val="0B4A36"/>
                </a:solidFill>
                <a:latin typeface="Aptos" pitchFamily="34" charset="0"/>
                <a:ea typeface="Aptos" pitchFamily="34" charset="-122"/>
                <a:cs typeface="Aptos" pitchFamily="34" charset="-120"/>
              </a:rPr>
              <a:t>Preferred words: connection, trust, retreat, nature, transformation, clarity, support, community, alignment.</a:t>
            </a:r>
            <a:endParaRPr lang="en-US" sz="1150" dirty="0"/>
          </a:p>
        </p:txBody>
      </p:sp>
      <p:sp>
        <p:nvSpPr>
          <p:cNvPr id="14" name="Text 11"/>
          <p:cNvSpPr/>
          <p:nvPr/>
        </p:nvSpPr>
        <p:spPr>
          <a:xfrm>
            <a:off x="777240" y="5532120"/>
            <a:ext cx="9875520" cy="301752"/>
          </a:xfrm>
          <a:prstGeom prst="rect">
            <a:avLst/>
          </a:prstGeom>
          <a:noFill/>
          <a:ln/>
        </p:spPr>
        <p:txBody>
          <a:bodyPr wrap="square" lIns="0" tIns="0" rIns="0" bIns="0" rtlCol="0" anchor="ctr"/>
          <a:lstStyle/>
          <a:p>
            <a:pPr indent="0" marL="0">
              <a:buNone/>
            </a:pPr>
            <a:r>
              <a:rPr lang="en-US" sz="1150" dirty="0">
                <a:solidFill>
                  <a:srgbClr val="1B2A28"/>
                </a:solidFill>
                <a:latin typeface="Aptos" pitchFamily="34" charset="0"/>
                <a:ea typeface="Aptos" pitchFamily="34" charset="-122"/>
                <a:cs typeface="Aptos" pitchFamily="34" charset="-120"/>
              </a:rPr>
              <a:t>Use carefully: healing, awakening, sacred, alchemy, spiritual - powerful words, but only where they feel genuine.</a:t>
            </a:r>
            <a:endParaRPr lang="en-US" sz="1150" dirty="0"/>
          </a:p>
        </p:txBody>
      </p:sp>
      <p:sp>
        <p:nvSpPr>
          <p:cNvPr id="15" name="Text 12"/>
          <p:cNvSpPr/>
          <p:nvPr/>
        </p:nvSpPr>
        <p:spPr>
          <a:xfrm>
            <a:off x="502920" y="6510528"/>
            <a:ext cx="5029200" cy="164592"/>
          </a:xfrm>
          <a:prstGeom prst="rect">
            <a:avLst/>
          </a:prstGeom>
          <a:noFill/>
          <a:ln/>
        </p:spPr>
        <p:txBody>
          <a:bodyPr wrap="square" lIns="0" tIns="0" rIns="0" bIns="0" rtlCol="0" anchor="ctr"/>
          <a:lstStyle/>
          <a:p>
            <a:pPr indent="0" marL="0">
              <a:buNone/>
            </a:pPr>
            <a:r>
              <a:rPr lang="en-US" sz="750" dirty="0">
                <a:solidFill>
                  <a:srgbClr val="7C8680"/>
                </a:solidFill>
                <a:latin typeface="Aptos" pitchFamily="34" charset="0"/>
                <a:ea typeface="Aptos" pitchFamily="34" charset="-122"/>
                <a:cs typeface="Aptos" pitchFamily="34" charset="-120"/>
              </a:rPr>
              <a:t>SpiritualRetreats.network  |  Brand Portfolio</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2E7"/>
        </a:solidFill>
      </p:bgPr>
    </p:bg>
    <p:spTree>
      <p:nvGrpSpPr>
        <p:cNvPr id="1" name=""/>
        <p:cNvGrpSpPr/>
        <p:nvPr/>
      </p:nvGrpSpPr>
      <p:grpSpPr>
        <a:xfrm>
          <a:off x="0" y="0"/>
          <a:ext cx="0" cy="0"/>
          <a:chOff x="0" y="0"/>
          <a:chExt cx="0" cy="0"/>
        </a:xfrm>
      </p:grpSpPr>
      <p:sp>
        <p:nvSpPr>
          <p:cNvPr id="2" name="Text 0"/>
          <p:cNvSpPr/>
          <p:nvPr/>
        </p:nvSpPr>
        <p:spPr>
          <a:xfrm>
            <a:off x="502920" y="320040"/>
            <a:ext cx="1005840" cy="320040"/>
          </a:xfrm>
          <a:prstGeom prst="rect">
            <a:avLst/>
          </a:prstGeom>
          <a:noFill/>
          <a:ln/>
        </p:spPr>
        <p:txBody>
          <a:bodyPr wrap="square" lIns="0" tIns="0" rIns="0" bIns="0" rtlCol="0" anchor="ctr"/>
          <a:lstStyle/>
          <a:p>
            <a:pPr indent="0" marL="0">
              <a:buNone/>
            </a:pPr>
            <a:r>
              <a:rPr lang="en-US" sz="1200" b="1" dirty="0">
                <a:solidFill>
                  <a:srgbClr val="D9A233"/>
                </a:solidFill>
                <a:latin typeface="Aptos" pitchFamily="34" charset="0"/>
                <a:ea typeface="Aptos" pitchFamily="34" charset="-122"/>
                <a:cs typeface="Aptos" pitchFamily="34" charset="-120"/>
              </a:rPr>
              <a:t>10</a:t>
            </a:r>
            <a:endParaRPr lang="en-US" sz="1200" dirty="0"/>
          </a:p>
        </p:txBody>
      </p:sp>
      <p:sp>
        <p:nvSpPr>
          <p:cNvPr id="3" name="Text 1"/>
          <p:cNvSpPr/>
          <p:nvPr/>
        </p:nvSpPr>
        <p:spPr>
          <a:xfrm>
            <a:off x="502920" y="658368"/>
            <a:ext cx="8046720" cy="502920"/>
          </a:xfrm>
          <a:prstGeom prst="rect">
            <a:avLst/>
          </a:prstGeom>
          <a:noFill/>
          <a:ln/>
        </p:spPr>
        <p:txBody>
          <a:bodyPr wrap="square" lIns="0" tIns="0" rIns="0" bIns="0" rtlCol="0" anchor="ctr"/>
          <a:lstStyle/>
          <a:p>
            <a:pPr indent="0" marL="0">
              <a:buNone/>
            </a:pPr>
            <a:r>
              <a:rPr lang="en-US" sz="2800" b="1" dirty="0">
                <a:solidFill>
                  <a:srgbClr val="0B4A36"/>
                </a:solidFill>
                <a:latin typeface="Georgia" pitchFamily="34" charset="0"/>
                <a:ea typeface="Georgia" pitchFamily="34" charset="-122"/>
                <a:cs typeface="Georgia" pitchFamily="34" charset="-120"/>
              </a:rPr>
              <a:t>Application Direction</a:t>
            </a:r>
            <a:endParaRPr lang="en-US" sz="2800" dirty="0"/>
          </a:p>
        </p:txBody>
      </p:sp>
      <p:sp>
        <p:nvSpPr>
          <p:cNvPr id="4" name="Text 2"/>
          <p:cNvSpPr/>
          <p:nvPr/>
        </p:nvSpPr>
        <p:spPr>
          <a:xfrm>
            <a:off x="502920" y="1170432"/>
            <a:ext cx="8778240" cy="301752"/>
          </a:xfrm>
          <a:prstGeom prst="rect">
            <a:avLst/>
          </a:prstGeom>
          <a:noFill/>
          <a:ln/>
        </p:spPr>
        <p:txBody>
          <a:bodyPr wrap="square" lIns="0" tIns="0" rIns="0" bIns="0" rtlCol="0" anchor="ctr"/>
          <a:lstStyle/>
          <a:p>
            <a:pPr indent="0" marL="0">
              <a:buNone/>
            </a:pPr>
            <a:r>
              <a:rPr lang="en-US" sz="1250" dirty="0">
                <a:solidFill>
                  <a:srgbClr val="B77938"/>
                </a:solidFill>
                <a:latin typeface="Aptos" pitchFamily="34" charset="0"/>
                <a:ea typeface="Aptos" pitchFamily="34" charset="-122"/>
                <a:cs typeface="Aptos" pitchFamily="34" charset="-120"/>
              </a:rPr>
              <a:t>How the identity begins to look in real platform moments.</a:t>
            </a:r>
            <a:endParaRPr lang="en-US" sz="1250" dirty="0"/>
          </a:p>
        </p:txBody>
      </p:sp>
      <p:sp>
        <p:nvSpPr>
          <p:cNvPr id="5" name="Shape 3"/>
          <p:cNvSpPr/>
          <p:nvPr/>
        </p:nvSpPr>
        <p:spPr>
          <a:xfrm>
            <a:off x="502920" y="1581912"/>
            <a:ext cx="1920240" cy="0"/>
          </a:xfrm>
          <a:prstGeom prst="line">
            <a:avLst/>
          </a:prstGeom>
          <a:noFill/>
          <a:ln w="15240">
            <a:solidFill>
              <a:srgbClr val="D9A233"/>
            </a:solidFill>
            <a:prstDash val="solid"/>
          </a:ln>
        </p:spPr>
      </p:sp>
      <p:pic>
        <p:nvPicPr>
          <p:cNvPr id="6" name="Image 0" descr="/mnt/data/SpiritualRetreats_assets/logo_mark_geometry_lotus.png">    </p:cNvPr>
          <p:cNvPicPr>
            <a:picLocks noChangeAspect="1"/>
          </p:cNvPicPr>
          <p:nvPr/>
        </p:nvPicPr>
        <p:blipFill>
          <a:blip r:embed="rId1"/>
          <a:srcRect l="0" r="0" t="9774" b="9774"/>
          <a:stretch/>
        </p:blipFill>
        <p:spPr>
          <a:xfrm>
            <a:off x="10789920" y="228600"/>
            <a:ext cx="777240" cy="777240"/>
          </a:xfrm>
          <a:prstGeom prst="rect">
            <a:avLst/>
          </a:prstGeom>
        </p:spPr>
      </p:pic>
      <p:pic>
        <p:nvPicPr>
          <p:cNvPr id="7" name="Image 1" descr="/mnt/data/SpiritualRetreats_assets/logo_master_navy_gold.png">    </p:cNvPr>
          <p:cNvPicPr>
            <a:picLocks noChangeAspect="1"/>
          </p:cNvPicPr>
          <p:nvPr/>
        </p:nvPicPr>
        <p:blipFill>
          <a:blip r:embed="rId2"/>
          <a:srcRect l="0" r="0" t="0" b="0"/>
          <a:stretch/>
        </p:blipFill>
        <p:spPr>
          <a:xfrm>
            <a:off x="685800" y="1828800"/>
            <a:ext cx="2743200" cy="2743200"/>
          </a:xfrm>
          <a:prstGeom prst="rect">
            <a:avLst/>
          </a:prstGeom>
        </p:spPr>
      </p:pic>
      <p:pic>
        <p:nvPicPr>
          <p:cNvPr id="8" name="Image 2" descr="/mnt/data/SpiritualRetreats_assets/photo_deck_sunrise.jpg">    </p:cNvPr>
          <p:cNvPicPr>
            <a:picLocks noChangeAspect="1"/>
          </p:cNvPicPr>
          <p:nvPr/>
        </p:nvPicPr>
        <p:blipFill>
          <a:blip r:embed="rId3"/>
          <a:srcRect l="0" r="0" t="8974" b="8974"/>
          <a:stretch/>
        </p:blipFill>
        <p:spPr>
          <a:xfrm>
            <a:off x="3886200" y="1828800"/>
            <a:ext cx="2743200" cy="2743200"/>
          </a:xfrm>
          <a:prstGeom prst="rect">
            <a:avLst/>
          </a:prstGeom>
        </p:spPr>
      </p:pic>
      <p:pic>
        <p:nvPicPr>
          <p:cNvPr id="9" name="Image 3" descr="/mnt/data/retreat_pdf_renders/page-10.png">    </p:cNvPr>
          <p:cNvPicPr>
            <a:picLocks noChangeAspect="1"/>
          </p:cNvPicPr>
          <p:nvPr/>
        </p:nvPicPr>
        <p:blipFill>
          <a:blip r:embed="rId4"/>
          <a:srcRect l="3125" r="3125" t="0" b="0"/>
          <a:stretch/>
        </p:blipFill>
        <p:spPr>
          <a:xfrm>
            <a:off x="7086600" y="1828800"/>
            <a:ext cx="3429000" cy="2743200"/>
          </a:xfrm>
          <a:prstGeom prst="rect">
            <a:avLst/>
          </a:prstGeom>
        </p:spPr>
      </p:pic>
      <p:sp>
        <p:nvSpPr>
          <p:cNvPr id="10" name="Text 4"/>
          <p:cNvSpPr/>
          <p:nvPr/>
        </p:nvSpPr>
        <p:spPr>
          <a:xfrm>
            <a:off x="685800" y="4892040"/>
            <a:ext cx="3108960" cy="292608"/>
          </a:xfrm>
          <a:prstGeom prst="rect">
            <a:avLst/>
          </a:prstGeom>
          <a:noFill/>
          <a:ln/>
        </p:spPr>
        <p:txBody>
          <a:bodyPr wrap="square" lIns="0" tIns="0" rIns="0" bIns="0" rtlCol="0" anchor="ctr"/>
          <a:lstStyle/>
          <a:p>
            <a:pPr indent="0" marL="0">
              <a:buNone/>
            </a:pPr>
            <a:r>
              <a:rPr lang="en-US" sz="1400" b="1" dirty="0">
                <a:solidFill>
                  <a:srgbClr val="0B4A36"/>
                </a:solidFill>
                <a:latin typeface="Georgia" pitchFamily="34" charset="0"/>
                <a:ea typeface="Georgia" pitchFamily="34" charset="-122"/>
                <a:cs typeface="Georgia" pitchFamily="34" charset="-120"/>
              </a:rPr>
              <a:t>Website hero</a:t>
            </a:r>
            <a:endParaRPr lang="en-US" sz="1400" dirty="0"/>
          </a:p>
        </p:txBody>
      </p:sp>
      <p:sp>
        <p:nvSpPr>
          <p:cNvPr id="11" name="Text 5"/>
          <p:cNvSpPr/>
          <p:nvPr/>
        </p:nvSpPr>
        <p:spPr>
          <a:xfrm>
            <a:off x="685800" y="5276088"/>
            <a:ext cx="3108960" cy="484632"/>
          </a:xfrm>
          <a:prstGeom prst="rect">
            <a:avLst/>
          </a:prstGeom>
          <a:noFill/>
          <a:ln/>
        </p:spPr>
        <p:txBody>
          <a:bodyPr wrap="square" lIns="381" tIns="381" rIns="381" bIns="381" rtlCol="0" anchor="t">
            <a:normAutofit/>
          </a:bodyPr>
          <a:lstStyle/>
          <a:p>
            <a:pPr indent="0" marL="0">
              <a:buNone/>
            </a:pPr>
            <a:r>
              <a:rPr lang="en-US" sz="1020" dirty="0">
                <a:solidFill>
                  <a:srgbClr val="1B2A28"/>
                </a:solidFill>
                <a:latin typeface="Aptos" pitchFamily="34" charset="0"/>
                <a:ea typeface="Aptos" pitchFamily="34" charset="-122"/>
                <a:cs typeface="Aptos" pitchFamily="34" charset="-120"/>
              </a:rPr>
              <a:t>Navy + lotus for the sacred first impression. Cream + green for the practical pathways: seekers, leaders, facilitators, venues.</a:t>
            </a:r>
            <a:endParaRPr lang="en-US" sz="1020" dirty="0"/>
          </a:p>
        </p:txBody>
      </p:sp>
      <p:sp>
        <p:nvSpPr>
          <p:cNvPr id="12" name="Text 6"/>
          <p:cNvSpPr/>
          <p:nvPr/>
        </p:nvSpPr>
        <p:spPr>
          <a:xfrm>
            <a:off x="3886200" y="4892040"/>
            <a:ext cx="3017520" cy="292608"/>
          </a:xfrm>
          <a:prstGeom prst="rect">
            <a:avLst/>
          </a:prstGeom>
          <a:noFill/>
          <a:ln/>
        </p:spPr>
        <p:txBody>
          <a:bodyPr wrap="square" lIns="0" tIns="0" rIns="0" bIns="0" rtlCol="0" anchor="ctr"/>
          <a:lstStyle/>
          <a:p>
            <a:pPr indent="0" marL="0">
              <a:buNone/>
            </a:pPr>
            <a:r>
              <a:rPr lang="en-US" sz="1400" b="1" dirty="0">
                <a:solidFill>
                  <a:srgbClr val="0B4A36"/>
                </a:solidFill>
                <a:latin typeface="Georgia" pitchFamily="34" charset="0"/>
                <a:ea typeface="Georgia" pitchFamily="34" charset="-122"/>
                <a:cs typeface="Georgia" pitchFamily="34" charset="-120"/>
              </a:rPr>
              <a:t>Social &amp; campaigns</a:t>
            </a:r>
            <a:endParaRPr lang="en-US" sz="1400" dirty="0"/>
          </a:p>
        </p:txBody>
      </p:sp>
      <p:sp>
        <p:nvSpPr>
          <p:cNvPr id="13" name="Text 7"/>
          <p:cNvSpPr/>
          <p:nvPr/>
        </p:nvSpPr>
        <p:spPr>
          <a:xfrm>
            <a:off x="3886200" y="5276088"/>
            <a:ext cx="3017520" cy="484632"/>
          </a:xfrm>
          <a:prstGeom prst="rect">
            <a:avLst/>
          </a:prstGeom>
          <a:noFill/>
          <a:ln/>
        </p:spPr>
        <p:txBody>
          <a:bodyPr wrap="square" lIns="381" tIns="381" rIns="381" bIns="381" rtlCol="0" anchor="t">
            <a:normAutofit/>
          </a:bodyPr>
          <a:lstStyle/>
          <a:p>
            <a:pPr indent="0" marL="0">
              <a:buNone/>
            </a:pPr>
            <a:r>
              <a:rPr lang="en-US" sz="1020" dirty="0">
                <a:solidFill>
                  <a:srgbClr val="1B2A28"/>
                </a:solidFill>
                <a:latin typeface="Aptos" pitchFamily="34" charset="0"/>
                <a:ea typeface="Aptos" pitchFamily="34" charset="-122"/>
                <a:cs typeface="Aptos" pitchFamily="34" charset="-120"/>
              </a:rPr>
              <a:t>Use nature photographs with a small lotus seal, gold headline, and very clear call-to-action.</a:t>
            </a:r>
            <a:endParaRPr lang="en-US" sz="1020" dirty="0"/>
          </a:p>
        </p:txBody>
      </p:sp>
      <p:sp>
        <p:nvSpPr>
          <p:cNvPr id="14" name="Text 8"/>
          <p:cNvSpPr/>
          <p:nvPr/>
        </p:nvSpPr>
        <p:spPr>
          <a:xfrm>
            <a:off x="7086600" y="4892040"/>
            <a:ext cx="3474720" cy="292608"/>
          </a:xfrm>
          <a:prstGeom prst="rect">
            <a:avLst/>
          </a:prstGeom>
          <a:noFill/>
          <a:ln/>
        </p:spPr>
        <p:txBody>
          <a:bodyPr wrap="square" lIns="0" tIns="0" rIns="0" bIns="0" rtlCol="0" anchor="ctr"/>
          <a:lstStyle/>
          <a:p>
            <a:pPr indent="0" marL="0">
              <a:buNone/>
            </a:pPr>
            <a:r>
              <a:rPr lang="en-US" sz="1400" b="1" dirty="0">
                <a:solidFill>
                  <a:srgbClr val="0B4A36"/>
                </a:solidFill>
                <a:latin typeface="Georgia" pitchFamily="34" charset="0"/>
                <a:ea typeface="Georgia" pitchFamily="34" charset="-122"/>
                <a:cs typeface="Georgia" pitchFamily="34" charset="-120"/>
              </a:rPr>
              <a:t>Investor / partner decks</a:t>
            </a:r>
            <a:endParaRPr lang="en-US" sz="1400" dirty="0"/>
          </a:p>
        </p:txBody>
      </p:sp>
      <p:sp>
        <p:nvSpPr>
          <p:cNvPr id="15" name="Text 9"/>
          <p:cNvSpPr/>
          <p:nvPr/>
        </p:nvSpPr>
        <p:spPr>
          <a:xfrm>
            <a:off x="7086600" y="5276088"/>
            <a:ext cx="3474720" cy="484632"/>
          </a:xfrm>
          <a:prstGeom prst="rect">
            <a:avLst/>
          </a:prstGeom>
          <a:noFill/>
          <a:ln/>
        </p:spPr>
        <p:txBody>
          <a:bodyPr wrap="square" lIns="381" tIns="381" rIns="381" bIns="381" rtlCol="0" anchor="t">
            <a:normAutofit/>
          </a:bodyPr>
          <a:lstStyle/>
          <a:p>
            <a:pPr indent="0" marL="0">
              <a:buNone/>
            </a:pPr>
            <a:r>
              <a:rPr lang="en-US" sz="1020" dirty="0">
                <a:solidFill>
                  <a:srgbClr val="1B2A28"/>
                </a:solidFill>
                <a:latin typeface="Aptos" pitchFamily="34" charset="0"/>
                <a:ea typeface="Aptos" pitchFamily="34" charset="-122"/>
                <a:cs typeface="Aptos" pitchFamily="34" charset="-120"/>
              </a:rPr>
              <a:t>Use the current green-and-cream presentation system, elevated with navy cover slides and gold ceremonial transitions.</a:t>
            </a:r>
            <a:endParaRPr lang="en-US" sz="1020" dirty="0"/>
          </a:p>
        </p:txBody>
      </p:sp>
      <p:sp>
        <p:nvSpPr>
          <p:cNvPr id="16" name="Text 10"/>
          <p:cNvSpPr/>
          <p:nvPr/>
        </p:nvSpPr>
        <p:spPr>
          <a:xfrm>
            <a:off x="502920" y="6510528"/>
            <a:ext cx="5029200" cy="164592"/>
          </a:xfrm>
          <a:prstGeom prst="rect">
            <a:avLst/>
          </a:prstGeom>
          <a:noFill/>
          <a:ln/>
        </p:spPr>
        <p:txBody>
          <a:bodyPr wrap="square" lIns="0" tIns="0" rIns="0" bIns="0" rtlCol="0" anchor="ctr"/>
          <a:lstStyle/>
          <a:p>
            <a:pPr indent="0" marL="0">
              <a:buNone/>
            </a:pPr>
            <a:r>
              <a:rPr lang="en-US" sz="750" dirty="0">
                <a:solidFill>
                  <a:srgbClr val="7C8680"/>
                </a:solidFill>
                <a:latin typeface="Aptos" pitchFamily="34" charset="0"/>
                <a:ea typeface="Aptos" pitchFamily="34" charset="-122"/>
                <a:cs typeface="Aptos" pitchFamily="34" charset="-120"/>
              </a:rPr>
              <a:t>SpiritualRetreats.network  |  Brand Portfolio</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61A33"/>
        </a:solidFill>
      </p:bgPr>
    </p:bg>
    <p:spTree>
      <p:nvGrpSpPr>
        <p:cNvPr id="1" name=""/>
        <p:cNvGrpSpPr/>
        <p:nvPr/>
      </p:nvGrpSpPr>
      <p:grpSpPr>
        <a:xfrm>
          <a:off x="0" y="0"/>
          <a:ext cx="0" cy="0"/>
          <a:chOff x="0" y="0"/>
          <a:chExt cx="0" cy="0"/>
        </a:xfrm>
      </p:grpSpPr>
      <p:sp>
        <p:nvSpPr>
          <p:cNvPr id="2" name="Text 0"/>
          <p:cNvSpPr/>
          <p:nvPr/>
        </p:nvSpPr>
        <p:spPr>
          <a:xfrm>
            <a:off x="502920" y="320040"/>
            <a:ext cx="1005840" cy="320040"/>
          </a:xfrm>
          <a:prstGeom prst="rect">
            <a:avLst/>
          </a:prstGeom>
          <a:noFill/>
          <a:ln/>
        </p:spPr>
        <p:txBody>
          <a:bodyPr wrap="square" lIns="0" tIns="0" rIns="0" bIns="0" rtlCol="0" anchor="ctr"/>
          <a:lstStyle/>
          <a:p>
            <a:pPr indent="0" marL="0">
              <a:buNone/>
            </a:pPr>
            <a:r>
              <a:rPr lang="en-US" sz="1200" b="1" dirty="0">
                <a:solidFill>
                  <a:srgbClr val="D9A233"/>
                </a:solidFill>
                <a:latin typeface="Aptos" pitchFamily="34" charset="0"/>
                <a:ea typeface="Aptos" pitchFamily="34" charset="-122"/>
                <a:cs typeface="Aptos" pitchFamily="34" charset="-120"/>
              </a:rPr>
              <a:t>11</a:t>
            </a:r>
            <a:endParaRPr lang="en-US" sz="1200" dirty="0"/>
          </a:p>
        </p:txBody>
      </p:sp>
      <p:sp>
        <p:nvSpPr>
          <p:cNvPr id="3" name="Text 1"/>
          <p:cNvSpPr/>
          <p:nvPr/>
        </p:nvSpPr>
        <p:spPr>
          <a:xfrm>
            <a:off x="502920" y="658368"/>
            <a:ext cx="8046720" cy="50292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Final Brand Formula</a:t>
            </a:r>
            <a:endParaRPr lang="en-US" sz="2800" dirty="0"/>
          </a:p>
        </p:txBody>
      </p:sp>
      <p:sp>
        <p:nvSpPr>
          <p:cNvPr id="4" name="Text 2"/>
          <p:cNvSpPr/>
          <p:nvPr/>
        </p:nvSpPr>
        <p:spPr>
          <a:xfrm>
            <a:off x="502920" y="1170432"/>
            <a:ext cx="8778240" cy="301752"/>
          </a:xfrm>
          <a:prstGeom prst="rect">
            <a:avLst/>
          </a:prstGeom>
          <a:noFill/>
          <a:ln/>
        </p:spPr>
        <p:txBody>
          <a:bodyPr wrap="square" lIns="0" tIns="0" rIns="0" bIns="0" rtlCol="0" anchor="ctr"/>
          <a:lstStyle/>
          <a:p>
            <a:pPr indent="0" marL="0">
              <a:buNone/>
            </a:pPr>
            <a:r>
              <a:rPr lang="en-US" sz="1250" dirty="0">
                <a:solidFill>
                  <a:srgbClr val="D6E2D8"/>
                </a:solidFill>
                <a:latin typeface="Aptos" pitchFamily="34" charset="0"/>
                <a:ea typeface="Aptos" pitchFamily="34" charset="-122"/>
                <a:cs typeface="Aptos" pitchFamily="34" charset="-120"/>
              </a:rPr>
              <a:t>A simple guide for every designer, page builder, deck maker, and content creator.</a:t>
            </a:r>
            <a:endParaRPr lang="en-US" sz="1250" dirty="0"/>
          </a:p>
        </p:txBody>
      </p:sp>
      <p:sp>
        <p:nvSpPr>
          <p:cNvPr id="5" name="Shape 3"/>
          <p:cNvSpPr/>
          <p:nvPr/>
        </p:nvSpPr>
        <p:spPr>
          <a:xfrm>
            <a:off x="502920" y="1581912"/>
            <a:ext cx="1920240" cy="0"/>
          </a:xfrm>
          <a:prstGeom prst="line">
            <a:avLst/>
          </a:prstGeom>
          <a:noFill/>
          <a:ln w="15240">
            <a:solidFill>
              <a:srgbClr val="D9A233"/>
            </a:solidFill>
            <a:prstDash val="solid"/>
          </a:ln>
        </p:spPr>
      </p:sp>
      <p:pic>
        <p:nvPicPr>
          <p:cNvPr id="6" name="Image 0" descr="/mnt/data/SpiritualRetreats_assets/logo_mark_geometry_lotus.png">    </p:cNvPr>
          <p:cNvPicPr>
            <a:picLocks noChangeAspect="1"/>
          </p:cNvPicPr>
          <p:nvPr/>
        </p:nvPicPr>
        <p:blipFill>
          <a:blip r:embed="rId1"/>
          <a:srcRect l="0" r="0" t="9774" b="9774"/>
          <a:stretch/>
        </p:blipFill>
        <p:spPr>
          <a:xfrm>
            <a:off x="10789920" y="228600"/>
            <a:ext cx="777240" cy="777240"/>
          </a:xfrm>
          <a:prstGeom prst="rect">
            <a:avLst/>
          </a:prstGeom>
        </p:spPr>
      </p:pic>
      <p:pic>
        <p:nvPicPr>
          <p:cNvPr id="7" name="Image 1" descr="/mnt/data/SpiritualRetreats_assets/logo_mark_geometry_lotus.png">    </p:cNvPr>
          <p:cNvPicPr>
            <a:picLocks noChangeAspect="1"/>
          </p:cNvPicPr>
          <p:nvPr/>
        </p:nvPicPr>
        <p:blipFill>
          <a:blip r:embed="rId2"/>
          <a:srcRect l="0" r="0" t="1565" b="1565"/>
          <a:stretch/>
        </p:blipFill>
        <p:spPr>
          <a:xfrm>
            <a:off x="731520" y="1920240"/>
            <a:ext cx="2240280" cy="2697480"/>
          </a:xfrm>
          <a:prstGeom prst="rect">
            <a:avLst/>
          </a:prstGeom>
        </p:spPr>
      </p:pic>
      <p:sp>
        <p:nvSpPr>
          <p:cNvPr id="8" name="Text 4"/>
          <p:cNvSpPr/>
          <p:nvPr/>
        </p:nvSpPr>
        <p:spPr>
          <a:xfrm>
            <a:off x="3566160" y="1874520"/>
            <a:ext cx="4389120" cy="320040"/>
          </a:xfrm>
          <a:prstGeom prst="rect">
            <a:avLst/>
          </a:prstGeom>
          <a:noFill/>
          <a:ln/>
        </p:spPr>
        <p:txBody>
          <a:bodyPr wrap="square" lIns="0" tIns="0" rIns="0" bIns="0" rtlCol="0" anchor="ctr"/>
          <a:lstStyle/>
          <a:p>
            <a:pPr indent="0" marL="0">
              <a:buNone/>
            </a:pPr>
            <a:r>
              <a:rPr lang="en-US" sz="1800" b="1" dirty="0">
                <a:solidFill>
                  <a:srgbClr val="F4D675"/>
                </a:solidFill>
                <a:latin typeface="Georgia" pitchFamily="34" charset="0"/>
                <a:ea typeface="Georgia" pitchFamily="34" charset="-122"/>
                <a:cs typeface="Georgia" pitchFamily="34" charset="-120"/>
              </a:rPr>
              <a:t>The formula</a:t>
            </a:r>
            <a:endParaRPr lang="en-US" sz="1800" dirty="0"/>
          </a:p>
        </p:txBody>
      </p:sp>
      <p:sp>
        <p:nvSpPr>
          <p:cNvPr id="9" name="Text 5"/>
          <p:cNvSpPr/>
          <p:nvPr/>
        </p:nvSpPr>
        <p:spPr>
          <a:xfrm>
            <a:off x="3566160" y="2286000"/>
            <a:ext cx="4389120" cy="2194560"/>
          </a:xfrm>
          <a:prstGeom prst="rect">
            <a:avLst/>
          </a:prstGeom>
          <a:noFill/>
          <a:ln/>
        </p:spPr>
        <p:txBody>
          <a:bodyPr wrap="square" lIns="254" tIns="254" rIns="254" bIns="254" rtlCol="0" anchor="t">
            <a:normAutofit/>
          </a:bodyPr>
          <a:lstStyle/>
          <a:p>
            <a:r>
              <a:rPr lang="en-US" sz="1200" dirty="0">
                <a:solidFill>
                  <a:srgbClr val="FFFFFF"/>
                </a:solidFill>
                <a:latin typeface="Aptos" pitchFamily="34" charset="0"/>
                <a:ea typeface="Aptos" pitchFamily="34" charset="-122"/>
                <a:cs typeface="Aptos" pitchFamily="34" charset="-120"/>
              </a:rPr>
              <a:t>Begin with a calm, spacious layout.
</a:t>
            </a:r>
            <a:endParaRPr lang="en-US" sz="1200" dirty="0"/>
          </a:p>
          <a:p>
            <a:r>
              <a:rPr lang="en-US" sz="1200" dirty="0">
                <a:solidFill>
                  <a:srgbClr val="FFFFFF"/>
                </a:solidFill>
                <a:latin typeface="Aptos" pitchFamily="34" charset="0"/>
                <a:ea typeface="Aptos" pitchFamily="34" charset="-122"/>
                <a:cs typeface="Aptos" pitchFamily="34" charset="-120"/>
              </a:rPr>
              <a:t>Bring in cream, sage and forest green for nature and trust.
</a:t>
            </a:r>
            <a:endParaRPr lang="en-US" sz="1200" dirty="0"/>
          </a:p>
          <a:p>
            <a:r>
              <a:rPr lang="en-US" sz="1200" dirty="0">
                <a:solidFill>
                  <a:srgbClr val="FFFFFF"/>
                </a:solidFill>
                <a:latin typeface="Aptos" pitchFamily="34" charset="0"/>
                <a:ea typeface="Aptos" pitchFamily="34" charset="-122"/>
                <a:cs typeface="Aptos" pitchFamily="34" charset="-120"/>
              </a:rPr>
              <a:t>Use navy for sacred depth and premium authority.
</a:t>
            </a:r>
            <a:endParaRPr lang="en-US" sz="1200" dirty="0"/>
          </a:p>
          <a:p>
            <a:r>
              <a:rPr lang="en-US" sz="1200" dirty="0">
                <a:solidFill>
                  <a:srgbClr val="FFFFFF"/>
                </a:solidFill>
                <a:latin typeface="Aptos" pitchFamily="34" charset="0"/>
                <a:ea typeface="Aptos" pitchFamily="34" charset="-122"/>
                <a:cs typeface="Aptos" pitchFamily="34" charset="-120"/>
              </a:rPr>
              <a:t>Use gold as light: highlights, rules, buttons, seals and moments of transformation.
</a:t>
            </a:r>
            <a:endParaRPr lang="en-US" sz="1200" dirty="0"/>
          </a:p>
          <a:p>
            <a:r>
              <a:rPr lang="en-US" sz="1200" dirty="0">
                <a:solidFill>
                  <a:srgbClr val="FFFFFF"/>
                </a:solidFill>
                <a:latin typeface="Aptos" pitchFamily="34" charset="0"/>
                <a:ea typeface="Aptos" pitchFamily="34" charset="-122"/>
                <a:cs typeface="Aptos" pitchFamily="34" charset="-120"/>
              </a:rPr>
              <a:t>Keep human photographs real, warm, and connected to nature.
</a:t>
            </a:r>
            <a:endParaRPr lang="en-US" sz="1200" dirty="0"/>
          </a:p>
          <a:p>
            <a:r>
              <a:rPr lang="en-US" sz="1200" dirty="0">
                <a:solidFill>
                  <a:srgbClr val="FFFFFF"/>
                </a:solidFill>
                <a:latin typeface="Aptos" pitchFamily="34" charset="0"/>
                <a:ea typeface="Aptos" pitchFamily="34" charset="-122"/>
                <a:cs typeface="Aptos" pitchFamily="34" charset="-120"/>
              </a:rPr>
              <a:t>Make every next step clear and kind.</a:t>
            </a:r>
            <a:endParaRPr lang="en-US" sz="1200" dirty="0"/>
          </a:p>
        </p:txBody>
      </p:sp>
      <p:sp>
        <p:nvSpPr>
          <p:cNvPr id="10" name="Text 6"/>
          <p:cNvSpPr/>
          <p:nvPr/>
        </p:nvSpPr>
        <p:spPr>
          <a:xfrm>
            <a:off x="3566160" y="4892040"/>
            <a:ext cx="5577840" cy="292608"/>
          </a:xfrm>
          <a:prstGeom prst="rect">
            <a:avLst/>
          </a:prstGeom>
          <a:noFill/>
          <a:ln/>
        </p:spPr>
        <p:txBody>
          <a:bodyPr wrap="square" lIns="0" tIns="0" rIns="0" bIns="0" rtlCol="0" anchor="ctr"/>
          <a:lstStyle/>
          <a:p>
            <a:pPr indent="0" marL="0">
              <a:buNone/>
            </a:pPr>
            <a:r>
              <a:rPr lang="en-US" sz="1600" b="1" dirty="0">
                <a:solidFill>
                  <a:srgbClr val="F4D675"/>
                </a:solidFill>
                <a:latin typeface="Georgia" pitchFamily="34" charset="0"/>
                <a:ea typeface="Georgia" pitchFamily="34" charset="-122"/>
                <a:cs typeface="Georgia" pitchFamily="34" charset="-120"/>
              </a:rPr>
              <a:t>One-line identity</a:t>
            </a:r>
            <a:endParaRPr lang="en-US" sz="1600" dirty="0"/>
          </a:p>
        </p:txBody>
      </p:sp>
      <p:sp>
        <p:nvSpPr>
          <p:cNvPr id="11" name="Text 7"/>
          <p:cNvSpPr/>
          <p:nvPr/>
        </p:nvSpPr>
        <p:spPr>
          <a:xfrm>
            <a:off x="3566160" y="5276088"/>
            <a:ext cx="5577840" cy="393192"/>
          </a:xfrm>
          <a:prstGeom prst="rect">
            <a:avLst/>
          </a:prstGeom>
          <a:noFill/>
          <a:ln/>
        </p:spPr>
        <p:txBody>
          <a:bodyPr wrap="square" lIns="381" tIns="381" rIns="381" bIns="381" rtlCol="0" anchor="t">
            <a:normAutofit/>
          </a:bodyPr>
          <a:lstStyle/>
          <a:p>
            <a:pPr indent="0" marL="0">
              <a:buNone/>
            </a:pPr>
            <a:r>
              <a:rPr lang="en-US" sz="1200" dirty="0">
                <a:solidFill>
                  <a:srgbClr val="FFFFFF"/>
                </a:solidFill>
                <a:latin typeface="Aptos" pitchFamily="34" charset="0"/>
                <a:ea typeface="Aptos" pitchFamily="34" charset="-122"/>
                <a:cs typeface="Aptos" pitchFamily="34" charset="-120"/>
              </a:rPr>
              <a:t>The global home where spiritual retreats, seekers, facilitators, leaders and venues meet in trust, beauty, and transformation.</a:t>
            </a:r>
            <a:endParaRPr lang="en-US" sz="1200" dirty="0"/>
          </a:p>
        </p:txBody>
      </p:sp>
      <p:sp>
        <p:nvSpPr>
          <p:cNvPr id="12" name="Text 8"/>
          <p:cNvSpPr/>
          <p:nvPr/>
        </p:nvSpPr>
        <p:spPr>
          <a:xfrm>
            <a:off x="3566160" y="5806440"/>
            <a:ext cx="5943600" cy="274320"/>
          </a:xfrm>
          <a:prstGeom prst="rect">
            <a:avLst/>
          </a:prstGeom>
          <a:noFill/>
          <a:ln/>
        </p:spPr>
        <p:txBody>
          <a:bodyPr wrap="square" lIns="0" tIns="0" rIns="0" bIns="0" rtlCol="0" anchor="ctr"/>
          <a:lstStyle/>
          <a:p>
            <a:pPr indent="0" marL="0">
              <a:buNone/>
            </a:pPr>
            <a:r>
              <a:rPr lang="en-US" sz="1600" b="1" dirty="0">
                <a:solidFill>
                  <a:srgbClr val="F4D675"/>
                </a:solidFill>
                <a:latin typeface="Georgia" pitchFamily="34" charset="0"/>
                <a:ea typeface="Georgia" pitchFamily="34" charset="-122"/>
                <a:cs typeface="Georgia" pitchFamily="34" charset="-120"/>
              </a:rPr>
              <a:t>Grounded in nature. Guided by spirit. Built for trust.</a:t>
            </a:r>
            <a:endParaRPr lang="en-US" sz="1600" dirty="0"/>
          </a:p>
        </p:txBody>
      </p:sp>
      <p:sp>
        <p:nvSpPr>
          <p:cNvPr id="13" name="Text 9"/>
          <p:cNvSpPr/>
          <p:nvPr/>
        </p:nvSpPr>
        <p:spPr>
          <a:xfrm>
            <a:off x="502920" y="6510528"/>
            <a:ext cx="5029200" cy="164592"/>
          </a:xfrm>
          <a:prstGeom prst="rect">
            <a:avLst/>
          </a:prstGeom>
          <a:noFill/>
          <a:ln/>
        </p:spPr>
        <p:txBody>
          <a:bodyPr wrap="square" lIns="0" tIns="0" rIns="0" bIns="0" rtlCol="0" anchor="ctr"/>
          <a:lstStyle/>
          <a:p>
            <a:pPr indent="0" marL="0">
              <a:buNone/>
            </a:pPr>
            <a:r>
              <a:rPr lang="en-US" sz="750" dirty="0">
                <a:solidFill>
                  <a:srgbClr val="C8D2CF"/>
                </a:solidFill>
                <a:latin typeface="Aptos" pitchFamily="34" charset="0"/>
                <a:ea typeface="Aptos" pitchFamily="34" charset="-122"/>
                <a:cs typeface="Aptos" pitchFamily="34" charset="-120"/>
              </a:rPr>
              <a:t>SpiritualRetreats.network  |  Brand Portfolio</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7EE"/>
        </a:solidFill>
      </p:bgPr>
    </p:bg>
    <p:spTree>
      <p:nvGrpSpPr>
        <p:cNvPr id="1" name=""/>
        <p:cNvGrpSpPr/>
        <p:nvPr/>
      </p:nvGrpSpPr>
      <p:grpSpPr>
        <a:xfrm>
          <a:off x="0" y="0"/>
          <a:ext cx="0" cy="0"/>
          <a:chOff x="0" y="0"/>
          <a:chExt cx="0" cy="0"/>
        </a:xfrm>
      </p:grpSpPr>
      <p:sp>
        <p:nvSpPr>
          <p:cNvPr id="2" name="Text 0"/>
          <p:cNvSpPr/>
          <p:nvPr/>
        </p:nvSpPr>
        <p:spPr>
          <a:xfrm>
            <a:off x="502920" y="320040"/>
            <a:ext cx="1005840" cy="320040"/>
          </a:xfrm>
          <a:prstGeom prst="rect">
            <a:avLst/>
          </a:prstGeom>
          <a:noFill/>
          <a:ln/>
        </p:spPr>
        <p:txBody>
          <a:bodyPr wrap="square" lIns="0" tIns="0" rIns="0" bIns="0" rtlCol="0" anchor="ctr"/>
          <a:lstStyle/>
          <a:p>
            <a:pPr indent="0" marL="0">
              <a:buNone/>
            </a:pPr>
            <a:r>
              <a:rPr lang="en-US" sz="1200" b="1" dirty="0">
                <a:solidFill>
                  <a:srgbClr val="D9A233"/>
                </a:solidFill>
                <a:latin typeface="Aptos" pitchFamily="34" charset="0"/>
                <a:ea typeface="Aptos" pitchFamily="34" charset="-122"/>
                <a:cs typeface="Aptos" pitchFamily="34" charset="-120"/>
              </a:rPr>
              <a:t>12</a:t>
            </a:r>
            <a:endParaRPr lang="en-US" sz="1200" dirty="0"/>
          </a:p>
        </p:txBody>
      </p:sp>
      <p:sp>
        <p:nvSpPr>
          <p:cNvPr id="3" name="Text 1"/>
          <p:cNvSpPr/>
          <p:nvPr/>
        </p:nvSpPr>
        <p:spPr>
          <a:xfrm>
            <a:off x="502920" y="658368"/>
            <a:ext cx="8046720" cy="502920"/>
          </a:xfrm>
          <a:prstGeom prst="rect">
            <a:avLst/>
          </a:prstGeom>
          <a:noFill/>
          <a:ln/>
        </p:spPr>
        <p:txBody>
          <a:bodyPr wrap="square" lIns="0" tIns="0" rIns="0" bIns="0" rtlCol="0" anchor="ctr"/>
          <a:lstStyle/>
          <a:p>
            <a:pPr indent="0" marL="0">
              <a:buNone/>
            </a:pPr>
            <a:r>
              <a:rPr lang="en-US" sz="2800" b="1" dirty="0">
                <a:solidFill>
                  <a:srgbClr val="0B4A36"/>
                </a:solidFill>
                <a:latin typeface="Georgia" pitchFamily="34" charset="0"/>
                <a:ea typeface="Georgia" pitchFamily="34" charset="-122"/>
                <a:cs typeface="Georgia" pitchFamily="34" charset="-120"/>
              </a:rPr>
              <a:t>Implementation Checklist</a:t>
            </a:r>
            <a:endParaRPr lang="en-US" sz="2800" dirty="0"/>
          </a:p>
        </p:txBody>
      </p:sp>
      <p:sp>
        <p:nvSpPr>
          <p:cNvPr id="4" name="Text 2"/>
          <p:cNvSpPr/>
          <p:nvPr/>
        </p:nvSpPr>
        <p:spPr>
          <a:xfrm>
            <a:off x="502920" y="1170432"/>
            <a:ext cx="8778240" cy="301752"/>
          </a:xfrm>
          <a:prstGeom prst="rect">
            <a:avLst/>
          </a:prstGeom>
          <a:noFill/>
          <a:ln/>
        </p:spPr>
        <p:txBody>
          <a:bodyPr wrap="square" lIns="0" tIns="0" rIns="0" bIns="0" rtlCol="0" anchor="ctr"/>
          <a:lstStyle/>
          <a:p>
            <a:pPr indent="0" marL="0">
              <a:buNone/>
            </a:pPr>
            <a:r>
              <a:rPr lang="en-US" sz="1250" dirty="0">
                <a:solidFill>
                  <a:srgbClr val="B77938"/>
                </a:solidFill>
                <a:latin typeface="Aptos" pitchFamily="34" charset="0"/>
                <a:ea typeface="Aptos" pitchFamily="34" charset="-122"/>
                <a:cs typeface="Aptos" pitchFamily="34" charset="-120"/>
              </a:rPr>
              <a:t>What to update next so the new identity becomes consistent everywhere.</a:t>
            </a:r>
            <a:endParaRPr lang="en-US" sz="1250" dirty="0"/>
          </a:p>
        </p:txBody>
      </p:sp>
      <p:sp>
        <p:nvSpPr>
          <p:cNvPr id="5" name="Shape 3"/>
          <p:cNvSpPr/>
          <p:nvPr/>
        </p:nvSpPr>
        <p:spPr>
          <a:xfrm>
            <a:off x="502920" y="1581912"/>
            <a:ext cx="1920240" cy="0"/>
          </a:xfrm>
          <a:prstGeom prst="line">
            <a:avLst/>
          </a:prstGeom>
          <a:noFill/>
          <a:ln w="15240">
            <a:solidFill>
              <a:srgbClr val="D9A233"/>
            </a:solidFill>
            <a:prstDash val="solid"/>
          </a:ln>
        </p:spPr>
      </p:sp>
      <p:pic>
        <p:nvPicPr>
          <p:cNvPr id="6" name="Image 0" descr="/mnt/data/SpiritualRetreats_assets/logo_mark_geometry_lotus.png">    </p:cNvPr>
          <p:cNvPicPr>
            <a:picLocks noChangeAspect="1"/>
          </p:cNvPicPr>
          <p:nvPr/>
        </p:nvPicPr>
        <p:blipFill>
          <a:blip r:embed="rId1"/>
          <a:srcRect l="0" r="0" t="9774" b="9774"/>
          <a:stretch/>
        </p:blipFill>
        <p:spPr>
          <a:xfrm>
            <a:off x="10789920" y="228600"/>
            <a:ext cx="777240" cy="777240"/>
          </a:xfrm>
          <a:prstGeom prst="rect">
            <a:avLst/>
          </a:prstGeom>
        </p:spPr>
      </p:pic>
      <p:sp>
        <p:nvSpPr>
          <p:cNvPr id="7" name="Text 4"/>
          <p:cNvSpPr/>
          <p:nvPr/>
        </p:nvSpPr>
        <p:spPr>
          <a:xfrm>
            <a:off x="777240" y="1874520"/>
            <a:ext cx="4800600" cy="320040"/>
          </a:xfrm>
          <a:prstGeom prst="rect">
            <a:avLst/>
          </a:prstGeom>
          <a:noFill/>
          <a:ln/>
        </p:spPr>
        <p:txBody>
          <a:bodyPr wrap="square" lIns="0" tIns="0" rIns="0" bIns="0" rtlCol="0" anchor="ctr"/>
          <a:lstStyle/>
          <a:p>
            <a:pPr indent="0" marL="0">
              <a:buNone/>
            </a:pPr>
            <a:r>
              <a:rPr lang="en-US" sz="1700" b="1" dirty="0">
                <a:solidFill>
                  <a:srgbClr val="0B4A36"/>
                </a:solidFill>
                <a:latin typeface="Georgia" pitchFamily="34" charset="0"/>
                <a:ea typeface="Georgia" pitchFamily="34" charset="-122"/>
                <a:cs typeface="Georgia" pitchFamily="34" charset="-120"/>
              </a:rPr>
              <a:t>Brand assets</a:t>
            </a:r>
            <a:endParaRPr lang="en-US" sz="1700" dirty="0"/>
          </a:p>
        </p:txBody>
      </p:sp>
      <p:sp>
        <p:nvSpPr>
          <p:cNvPr id="8" name="Text 5"/>
          <p:cNvSpPr/>
          <p:nvPr/>
        </p:nvSpPr>
        <p:spPr>
          <a:xfrm>
            <a:off x="777240" y="2286000"/>
            <a:ext cx="4800600" cy="1417320"/>
          </a:xfrm>
          <a:prstGeom prst="rect">
            <a:avLst/>
          </a:prstGeom>
          <a:noFill/>
          <a:ln/>
        </p:spPr>
        <p:txBody>
          <a:bodyPr wrap="square" lIns="254" tIns="254" rIns="254" bIns="254" rtlCol="0" anchor="t">
            <a:normAutofit/>
          </a:bodyPr>
          <a:lstStyle/>
          <a:p>
            <a:r>
              <a:rPr lang="en-US" sz="1120" dirty="0">
                <a:solidFill>
                  <a:srgbClr val="1B2A28"/>
                </a:solidFill>
                <a:latin typeface="Aptos" pitchFamily="34" charset="0"/>
                <a:ea typeface="Aptos" pitchFamily="34" charset="-122"/>
                <a:cs typeface="Aptos" pitchFamily="34" charset="-120"/>
              </a:rPr>
              <a:t>Confirm the final domain spelling: SpiritualRetreats.network.
</a:t>
            </a:r>
            <a:endParaRPr lang="en-US" sz="1120" dirty="0"/>
          </a:p>
          <a:p>
            <a:r>
              <a:rPr lang="en-US" sz="1120" dirty="0">
                <a:solidFill>
                  <a:srgbClr val="1B2A28"/>
                </a:solidFill>
                <a:latin typeface="Aptos" pitchFamily="34" charset="0"/>
                <a:ea typeface="Aptos" pitchFamily="34" charset="-122"/>
                <a:cs typeface="Aptos" pitchFamily="34" charset="-120"/>
              </a:rPr>
              <a:t>Create final transparent PNG/SVG logo files from the chosen master logo.
</a:t>
            </a:r>
            <a:endParaRPr lang="en-US" sz="1120" dirty="0"/>
          </a:p>
          <a:p>
            <a:r>
              <a:rPr lang="en-US" sz="1120" dirty="0">
                <a:solidFill>
                  <a:srgbClr val="1B2A28"/>
                </a:solidFill>
                <a:latin typeface="Aptos" pitchFamily="34" charset="0"/>
                <a:ea typeface="Aptos" pitchFamily="34" charset="-122"/>
                <a:cs typeface="Aptos" pitchFamily="34" charset="-120"/>
              </a:rPr>
              <a:t>Prepare favicon, social avatar, horizontal logo, dark logo, and light-background version.
</a:t>
            </a:r>
            <a:endParaRPr lang="en-US" sz="1120" dirty="0"/>
          </a:p>
          <a:p>
            <a:r>
              <a:rPr lang="en-US" sz="1120" dirty="0">
                <a:solidFill>
                  <a:srgbClr val="1B2A28"/>
                </a:solidFill>
                <a:latin typeface="Aptos" pitchFamily="34" charset="0"/>
                <a:ea typeface="Aptos" pitchFamily="34" charset="-122"/>
                <a:cs typeface="Aptos" pitchFamily="34" charset="-120"/>
              </a:rPr>
              <a:t>Lock the colour palette and font choices before web build.</a:t>
            </a:r>
            <a:endParaRPr lang="en-US" sz="1120" dirty="0"/>
          </a:p>
        </p:txBody>
      </p:sp>
      <p:sp>
        <p:nvSpPr>
          <p:cNvPr id="9" name="Text 6"/>
          <p:cNvSpPr/>
          <p:nvPr/>
        </p:nvSpPr>
        <p:spPr>
          <a:xfrm>
            <a:off x="6126480" y="1874520"/>
            <a:ext cx="4800600" cy="320040"/>
          </a:xfrm>
          <a:prstGeom prst="rect">
            <a:avLst/>
          </a:prstGeom>
          <a:noFill/>
          <a:ln/>
        </p:spPr>
        <p:txBody>
          <a:bodyPr wrap="square" lIns="0" tIns="0" rIns="0" bIns="0" rtlCol="0" anchor="ctr"/>
          <a:lstStyle/>
          <a:p>
            <a:pPr indent="0" marL="0">
              <a:buNone/>
            </a:pPr>
            <a:r>
              <a:rPr lang="en-US" sz="1700" b="1" dirty="0">
                <a:solidFill>
                  <a:srgbClr val="0B4A36"/>
                </a:solidFill>
                <a:latin typeface="Georgia" pitchFamily="34" charset="0"/>
                <a:ea typeface="Georgia" pitchFamily="34" charset="-122"/>
                <a:cs typeface="Georgia" pitchFamily="34" charset="-120"/>
              </a:rPr>
              <a:t>Platform rollout</a:t>
            </a:r>
            <a:endParaRPr lang="en-US" sz="1700" dirty="0"/>
          </a:p>
        </p:txBody>
      </p:sp>
      <p:sp>
        <p:nvSpPr>
          <p:cNvPr id="10" name="Text 7"/>
          <p:cNvSpPr/>
          <p:nvPr/>
        </p:nvSpPr>
        <p:spPr>
          <a:xfrm>
            <a:off x="6126480" y="2286000"/>
            <a:ext cx="4800600" cy="1417320"/>
          </a:xfrm>
          <a:prstGeom prst="rect">
            <a:avLst/>
          </a:prstGeom>
          <a:noFill/>
          <a:ln/>
        </p:spPr>
        <p:txBody>
          <a:bodyPr wrap="square" lIns="254" tIns="254" rIns="254" bIns="254" rtlCol="0" anchor="t">
            <a:normAutofit/>
          </a:bodyPr>
          <a:lstStyle/>
          <a:p>
            <a:r>
              <a:rPr lang="en-US" sz="1120" dirty="0">
                <a:solidFill>
                  <a:srgbClr val="1B2A28"/>
                </a:solidFill>
                <a:latin typeface="Aptos" pitchFamily="34" charset="0"/>
                <a:ea typeface="Aptos" pitchFamily="34" charset="-122"/>
                <a:cs typeface="Aptos" pitchFamily="34" charset="-120"/>
              </a:rPr>
              <a:t>Update the existing retreat platform deck with the new name and logo.
</a:t>
            </a:r>
            <a:endParaRPr lang="en-US" sz="1120" dirty="0"/>
          </a:p>
          <a:p>
            <a:r>
              <a:rPr lang="en-US" sz="1120" dirty="0">
                <a:solidFill>
                  <a:srgbClr val="1B2A28"/>
                </a:solidFill>
                <a:latin typeface="Aptos" pitchFamily="34" charset="0"/>
                <a:ea typeface="Aptos" pitchFamily="34" charset="-122"/>
                <a:cs typeface="Aptos" pitchFamily="34" charset="-120"/>
              </a:rPr>
              <a:t>Apply the blue/green/gold system to website hero, forms, and emails.
</a:t>
            </a:r>
            <a:endParaRPr lang="en-US" sz="1120" dirty="0"/>
          </a:p>
          <a:p>
            <a:r>
              <a:rPr lang="en-US" sz="1120" dirty="0">
                <a:solidFill>
                  <a:srgbClr val="1B2A28"/>
                </a:solidFill>
                <a:latin typeface="Aptos" pitchFamily="34" charset="0"/>
                <a:ea typeface="Aptos" pitchFamily="34" charset="-122"/>
                <a:cs typeface="Aptos" pitchFamily="34" charset="-120"/>
              </a:rPr>
              <a:t>Create templates for retreat profiles, facilitator profiles, social posts, and partner proposals.
</a:t>
            </a:r>
            <a:endParaRPr lang="en-US" sz="1120" dirty="0"/>
          </a:p>
          <a:p>
            <a:r>
              <a:rPr lang="en-US" sz="1120" dirty="0">
                <a:solidFill>
                  <a:srgbClr val="1B2A28"/>
                </a:solidFill>
                <a:latin typeface="Aptos" pitchFamily="34" charset="0"/>
                <a:ea typeface="Aptos" pitchFamily="34" charset="-122"/>
                <a:cs typeface="Aptos" pitchFamily="34" charset="-120"/>
              </a:rPr>
              <a:t>Use the brand voice guide for seeker, leader, facilitator, and venue copy.</a:t>
            </a:r>
            <a:endParaRPr lang="en-US" sz="1120" dirty="0"/>
          </a:p>
        </p:txBody>
      </p:sp>
      <p:sp>
        <p:nvSpPr>
          <p:cNvPr id="11" name="Text 8"/>
          <p:cNvSpPr/>
          <p:nvPr/>
        </p:nvSpPr>
        <p:spPr>
          <a:xfrm>
            <a:off x="2834640" y="4892040"/>
            <a:ext cx="6583680" cy="329184"/>
          </a:xfrm>
          <a:prstGeom prst="rect">
            <a:avLst/>
          </a:prstGeom>
          <a:noFill/>
          <a:ln/>
        </p:spPr>
        <p:txBody>
          <a:bodyPr wrap="square" lIns="0" tIns="0" rIns="0" bIns="0" rtlCol="0" anchor="ctr"/>
          <a:lstStyle/>
          <a:p>
            <a:pPr algn="ctr" indent="0" marL="0">
              <a:buNone/>
            </a:pPr>
            <a:r>
              <a:rPr lang="en-US" sz="2200" dirty="0">
                <a:solidFill>
                  <a:srgbClr val="D9A233"/>
                </a:solidFill>
                <a:latin typeface="Georgia" pitchFamily="34" charset="0"/>
                <a:ea typeface="Georgia" pitchFamily="34" charset="-122"/>
                <a:cs typeface="Georgia" pitchFamily="34" charset="-120"/>
              </a:rPr>
              <a:t>SPIRITUAL RETREAT NETWORK</a:t>
            </a:r>
            <a:endParaRPr lang="en-US" sz="2200" dirty="0"/>
          </a:p>
        </p:txBody>
      </p:sp>
      <p:sp>
        <p:nvSpPr>
          <p:cNvPr id="12" name="Shape 9"/>
          <p:cNvSpPr/>
          <p:nvPr/>
        </p:nvSpPr>
        <p:spPr>
          <a:xfrm>
            <a:off x="4160520" y="5330952"/>
            <a:ext cx="3886200" cy="0"/>
          </a:xfrm>
          <a:prstGeom prst="line">
            <a:avLst/>
          </a:prstGeom>
          <a:noFill/>
          <a:ln w="12700">
            <a:solidFill>
              <a:srgbClr val="D9A233"/>
            </a:solidFill>
            <a:prstDash val="solid"/>
          </a:ln>
        </p:spPr>
      </p:sp>
      <p:sp>
        <p:nvSpPr>
          <p:cNvPr id="13" name="Text 10"/>
          <p:cNvSpPr/>
          <p:nvPr/>
        </p:nvSpPr>
        <p:spPr>
          <a:xfrm>
            <a:off x="2331720" y="5897880"/>
            <a:ext cx="7498080" cy="292608"/>
          </a:xfrm>
          <a:prstGeom prst="rect">
            <a:avLst/>
          </a:prstGeom>
          <a:noFill/>
          <a:ln/>
        </p:spPr>
        <p:txBody>
          <a:bodyPr wrap="square" lIns="0" tIns="0" rIns="0" bIns="0" rtlCol="0" anchor="ctr"/>
          <a:lstStyle/>
          <a:p>
            <a:pPr algn="ctr" indent="0" marL="0">
              <a:buNone/>
            </a:pPr>
            <a:r>
              <a:rPr lang="en-US" sz="1600" b="1" dirty="0">
                <a:solidFill>
                  <a:srgbClr val="0B4A36"/>
                </a:solidFill>
                <a:latin typeface="Georgia" pitchFamily="34" charset="0"/>
                <a:ea typeface="Georgia" pitchFamily="34" charset="-122"/>
                <a:cs typeface="Georgia" pitchFamily="34" charset="-120"/>
              </a:rPr>
              <a:t>Ready for the next step: logo export pack + refreshed website/deck templates.</a:t>
            </a:r>
            <a:endParaRPr lang="en-US" sz="1600" dirty="0"/>
          </a:p>
        </p:txBody>
      </p:sp>
      <p:sp>
        <p:nvSpPr>
          <p:cNvPr id="14" name="Text 11"/>
          <p:cNvSpPr/>
          <p:nvPr/>
        </p:nvSpPr>
        <p:spPr>
          <a:xfrm>
            <a:off x="502920" y="6510528"/>
            <a:ext cx="5029200" cy="164592"/>
          </a:xfrm>
          <a:prstGeom prst="rect">
            <a:avLst/>
          </a:prstGeom>
          <a:noFill/>
          <a:ln/>
        </p:spPr>
        <p:txBody>
          <a:bodyPr wrap="square" lIns="0" tIns="0" rIns="0" bIns="0" rtlCol="0" anchor="ctr"/>
          <a:lstStyle/>
          <a:p>
            <a:pPr indent="0" marL="0">
              <a:buNone/>
            </a:pPr>
            <a:r>
              <a:rPr lang="en-US" sz="750" dirty="0">
                <a:solidFill>
                  <a:srgbClr val="7C8680"/>
                </a:solidFill>
                <a:latin typeface="Aptos" pitchFamily="34" charset="0"/>
                <a:ea typeface="Aptos" pitchFamily="34" charset="-122"/>
                <a:cs typeface="Aptos" pitchFamily="34" charset="-120"/>
              </a:rPr>
              <a:t>SpiritualRetreats.network  |  Brand Portfolio</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SpiritualRetreats.network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SpiritualRetreats.network Branding Portfolio</dc:title>
  <dc:subject>Branding Portfolio</dc:subject>
  <dc:creator>OpenAI</dc:creator>
  <cp:lastModifiedBy>OpenAI</cp:lastModifiedBy>
  <cp:revision>1</cp:revision>
  <dcterms:created xsi:type="dcterms:W3CDTF">2026-07-10T08:49:49Z</dcterms:created>
  <dcterms:modified xsi:type="dcterms:W3CDTF">2026-07-10T08:49:49Z</dcterms:modified>
</cp:coreProperties>
</file>